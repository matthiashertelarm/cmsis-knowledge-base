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524400b-521c-5c1e-b0af-fbdfcb2350b9}">
          <p14:sldIdLst>
            <p14:sldId id="256"/>
            <p14:sldId id="257"/>
            <p14:sldId id="258"/>
            <p14:sldId id="259"/>
          </p14:sldIdLst>
        </p14:section>
        <p14:section name="How the data is structured" id="{f3947481-509f-e157-a35b-9f80d59e6ab1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How the agent uses it" id="{6f602e5c-9ffb-e02b-ebd9-caaf31d963ea}">
          <p14:sldIdLst>
            <p14:sldId id="267"/>
            <p14:sldId id="268"/>
            <p14:sldId id="269"/>
          </p14:sldIdLst>
        </p14:section>
        <p14:section name="Where we are" id="{f6725021-3303-195a-5f1a-bfb2dae58567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Backup" id="{ea665b6a-77d5-ba55-99fe-5e6ae0b2f519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Entities</c:v>
                </c:pt>
              </c:strCache>
            </c:strRef>
          </c:tx>
          <c:spPr>
            <a:solidFill>
              <a:srgbClr val="2F4F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Device</c:v>
                  </c:pt>
                  <c:pt idx="1">
                    <c:v>Component</c:v>
                  </c:pt>
                  <c:pt idx="2">
                    <c:v>DocSection</c:v>
                  </c:pt>
                  <c:pt idx="3">
                    <c:v>Pack</c:v>
                  </c:pt>
                  <c:pt idx="4">
                    <c:v>Subfamily</c:v>
                  </c:pt>
                  <c:pt idx="5">
                    <c:v>Family</c:v>
                  </c:pt>
                  <c:pt idx="6">
                    <c:v>Board</c:v>
                  </c:pt>
                  <c:pt idx="7">
                    <c:v>API</c:v>
                  </c:pt>
                  <c:pt idx="8">
                    <c:v>Core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12618</c:v>
                </c:pt>
                <c:pt idx="1">
                  <c:v>6390</c:v>
                </c:pt>
                <c:pt idx="2">
                  <c:v>2991</c:v>
                </c:pt>
                <c:pt idx="3">
                  <c:v>1827</c:v>
                </c:pt>
                <c:pt idx="4">
                  <c:v>1536</c:v>
                </c:pt>
                <c:pt idx="5">
                  <c:v>884</c:v>
                </c:pt>
                <c:pt idx="6">
                  <c:v>534</c:v>
                </c:pt>
                <c:pt idx="7">
                  <c:v>58</c:v>
                </c:pt>
                <c:pt idx="8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Cause and fix documented</c:v>
                </c:pt>
              </c:strCache>
            </c:strRef>
          </c:tx>
          <c:spPr>
            <a:solidFill>
              <a:srgbClr val="137C8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packchk</c:v>
                  </c:pt>
                  <c:pt idx="1">
                    <c:v>svdconv</c:v>
                  </c:pt>
                  <c:pt idx="2">
                    <c:v>csolution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129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Symptom only</c:v>
                </c:pt>
              </c:strCache>
            </c:strRef>
          </c:tx>
          <c:spPr>
            <a:solidFill>
              <a:srgbClr val="9E3D5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packchk</c:v>
                  </c:pt>
                  <c:pt idx="1">
                    <c:v>svdconv</c:v>
                  </c:pt>
                  <c:pt idx="2">
                    <c:v>csolution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13</c:v>
                </c:pt>
                <c:pt idx="2">
                  <c:v>134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7C80"/>
              </a:solidFill>
              <a:effectLst/>
            </c:spPr>
          </c:dPt>
          <c:dPt>
            <c:idx val="1"/>
            <c:bubble3D val="0"/>
            <c:spPr>
              <a:solidFill>
                <a:srgbClr val="5FA8A6"/>
              </a:solidFill>
              <a:effectLst/>
            </c:spPr>
          </c:dPt>
          <c:dPt>
            <c:idx val="2"/>
            <c:bubble3D val="0"/>
            <c:spPr>
              <a:solidFill>
                <a:srgbClr val="C8692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V: full text</c:v>
                </c:pt>
                <c:pt idx="1">
                  <c:v>S: own summary + link</c:v>
                </c:pt>
                <c:pt idx="2">
                  <c:v>R: reference only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67</c:v>
                </c:pt>
                <c:pt idx="1">
                  <c:v>60</c:v>
                </c:pt>
                <c:pt idx="2">
                  <c:v>13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0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align on the idea, see how the data looks, agree on pilot domain and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CMSIS Knowledge Base  |  Team kickoff  |  Arm internal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7228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10454335" y="484632"/>
            <a:ext cx="1188720" cy="40233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BACKUP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CMSIS Knowledge Base  |  Team kickoff  |  Arm internal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CMSIS Knowledge Base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Team kickoff: giving the CMSIS Developer Assistant the know-how that Pack Docs don't have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Embedded Tools Integration  |  October 2026</a:t>
            </a:r>
            <a:endParaRPr lang="en-US" sz="1200" dirty="0"/>
          </a:p>
        </p:txBody>
      </p:sp>
      <p:sp>
        <p:nvSpPr>
          <p:cNvPr id="5" name="motif edge"/>
          <p:cNvSpPr/>
          <p:nvPr/>
        </p:nvSpPr>
        <p:spPr>
          <a:xfrm>
            <a:off x="9646920" y="1783080"/>
            <a:ext cx="155448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motif edge"/>
          <p:cNvSpPr/>
          <p:nvPr/>
        </p:nvSpPr>
        <p:spPr>
          <a:xfrm flipH="1">
            <a:off x="9464040" y="1783080"/>
            <a:ext cx="182880" cy="1828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motif edge"/>
          <p:cNvSpPr/>
          <p:nvPr/>
        </p:nvSpPr>
        <p:spPr>
          <a:xfrm>
            <a:off x="9464040" y="3611880"/>
            <a:ext cx="1463040" cy="8229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motif edge"/>
          <p:cNvSpPr/>
          <p:nvPr/>
        </p:nvSpPr>
        <p:spPr>
          <a:xfrm flipH="1">
            <a:off x="10927080" y="2697480"/>
            <a:ext cx="274320" cy="17373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motif edge"/>
          <p:cNvSpPr/>
          <p:nvPr/>
        </p:nvSpPr>
        <p:spPr>
          <a:xfrm>
            <a:off x="9464040" y="3611880"/>
            <a:ext cx="548640" cy="15544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0" name="motif edge"/>
          <p:cNvSpPr/>
          <p:nvPr/>
        </p:nvSpPr>
        <p:spPr>
          <a:xfrm flipH="1">
            <a:off x="10012680" y="4434840"/>
            <a:ext cx="914400" cy="7315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motif node"/>
          <p:cNvSpPr/>
          <p:nvPr/>
        </p:nvSpPr>
        <p:spPr>
          <a:xfrm>
            <a:off x="9326880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2" name="motif node"/>
          <p:cNvSpPr/>
          <p:nvPr/>
        </p:nvSpPr>
        <p:spPr>
          <a:xfrm>
            <a:off x="10881360" y="2377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3" name="motif node"/>
          <p:cNvSpPr/>
          <p:nvPr/>
        </p:nvSpPr>
        <p:spPr>
          <a:xfrm>
            <a:off x="9144000" y="3291840"/>
            <a:ext cx="640080" cy="64008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4" name="motif node"/>
          <p:cNvSpPr/>
          <p:nvPr/>
        </p:nvSpPr>
        <p:spPr>
          <a:xfrm>
            <a:off x="10607040" y="411480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5" name="motif node"/>
          <p:cNvSpPr/>
          <p:nvPr/>
        </p:nvSpPr>
        <p:spPr>
          <a:xfrm>
            <a:off x="9692640" y="484632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Docs say what exists. We add how, when and why</a:t>
            </a:r>
            <a:endParaRPr lang="en-US" sz="2800" dirty="0"/>
          </a:p>
        </p:txBody>
      </p:sp>
      <p:sp>
        <p:nvSpPr>
          <p:cNvPr id="3" name="col 0"/>
          <p:cNvSpPr/>
          <p:nvPr/>
        </p:nvSpPr>
        <p:spPr>
          <a:xfrm>
            <a:off x="548640" y="1371600"/>
            <a:ext cx="2606040" cy="36576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HAT badge"/>
          <p:cNvSpPr/>
          <p:nvPr/>
        </p:nvSpPr>
        <p:spPr>
          <a:xfrm>
            <a:off x="1417320" y="1645920"/>
            <a:ext cx="868680" cy="868680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5" name="WHAT icon" descr="W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186309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Pack Docs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APIs, parameters, device facts, datasheets. Already in the CDA.</a:t>
            </a:r>
            <a:endParaRPr lang="en-US" sz="1400" dirty="0"/>
          </a:p>
        </p:txBody>
      </p:sp>
      <p:sp>
        <p:nvSpPr>
          <p:cNvPr id="9" name="col 1"/>
          <p:cNvSpPr/>
          <p:nvPr/>
        </p:nvSpPr>
        <p:spPr>
          <a:xfrm>
            <a:off x="3355848" y="1371600"/>
            <a:ext cx="2606040" cy="36576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HOW badge"/>
          <p:cNvSpPr/>
          <p:nvPr/>
        </p:nvSpPr>
        <p:spPr>
          <a:xfrm>
            <a:off x="4224528" y="1645920"/>
            <a:ext cx="868680" cy="86868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11" name="HOW icon" descr="H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698" y="186309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Procedures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Step by step workflows with checks and stop points.</a:t>
            </a:r>
            <a:endParaRPr lang="en-US" sz="1400" dirty="0"/>
          </a:p>
        </p:txBody>
      </p:sp>
      <p:sp>
        <p:nvSpPr>
          <p:cNvPr id="15" name="col 2"/>
          <p:cNvSpPr/>
          <p:nvPr/>
        </p:nvSpPr>
        <p:spPr>
          <a:xfrm>
            <a:off x="6163056" y="1371600"/>
            <a:ext cx="2606040" cy="36576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WHEN badge"/>
          <p:cNvSpPr/>
          <p:nvPr/>
        </p:nvSpPr>
        <p:spPr>
          <a:xfrm>
            <a:off x="7031736" y="1645920"/>
            <a:ext cx="868680" cy="868680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17" name="WHEN icon" descr="WH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06" y="186309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45936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345936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Rules and patterns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Constraints, trade-offs, what wins in which context.</a:t>
            </a:r>
            <a:endParaRPr lang="en-US" sz="1400" dirty="0"/>
          </a:p>
        </p:txBody>
      </p:sp>
      <p:sp>
        <p:nvSpPr>
          <p:cNvPr id="21" name="col 3"/>
          <p:cNvSpPr/>
          <p:nvPr/>
        </p:nvSpPr>
        <p:spPr>
          <a:xfrm>
            <a:off x="8970264" y="1371600"/>
            <a:ext cx="2606040" cy="36576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WHY badge"/>
          <p:cNvSpPr/>
          <p:nvPr/>
        </p:nvSpPr>
        <p:spPr>
          <a:xfrm>
            <a:off x="9838944" y="1645920"/>
            <a:ext cx="868680" cy="868680"/>
          </a:xfrm>
          <a:prstGeom prst="ellipse">
            <a:avLst/>
          </a:prstGeom>
          <a:solidFill>
            <a:srgbClr val="9E3D5E"/>
          </a:solidFill>
          <a:ln w="12700">
            <a:solidFill>
              <a:srgbClr val="9E3D5E"/>
            </a:solidFill>
            <a:prstDash val="solid"/>
          </a:ln>
        </p:spPr>
      </p:sp>
      <p:pic>
        <p:nvPicPr>
          <p:cNvPr id="23" name="WHY icon" descr="WH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114" y="1863090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53144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9153144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Troubleshooting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198864" y="3657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Exact error text, cause and fix.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Glue: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both sides point at the same CMSIS entities (device, core, component, toolchain). The agent's project context selects what applies.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skills alone don't scale</a:t>
            </a:r>
            <a:endParaRPr lang="en-US" sz="2800" dirty="0"/>
          </a:p>
        </p:txBody>
      </p:sp>
      <p:sp>
        <p:nvSpPr>
          <p:cNvPr id="3" name="prob 0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ll or nothing badg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5" name="All or nothing icon" descr="All or noth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All or nothing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24 skills, ~36k tokens. A skill is loaded whole or not at all.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36k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tokens in all skills</a:t>
            </a:r>
            <a:endParaRPr lang="en-US" sz="1300" dirty="0"/>
          </a:p>
        </p:txBody>
      </p:sp>
      <p:sp>
        <p:nvSpPr>
          <p:cNvPr id="10" name="prob 1"/>
          <p:cNvSpPr/>
          <p:nvPr/>
        </p:nvSpPr>
        <p:spPr>
          <a:xfrm>
            <a:off x="429768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lind to the project badge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12" name="Blind to the project icon" descr="Blind to the 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Blind to the project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Skills are picked by their description, not by the device, components or compiler in cbuild.yml.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skills chosen by description only</a:t>
            </a:r>
            <a:endParaRPr lang="en-US" sz="1300" dirty="0"/>
          </a:p>
        </p:txBody>
      </p:sp>
      <p:sp>
        <p:nvSpPr>
          <p:cNvPr id="17" name="prob 2"/>
          <p:cNvSpPr/>
          <p:nvPr/>
        </p:nvSpPr>
        <p:spPr>
          <a:xfrm>
            <a:off x="804672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oo heavy for small models badge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19" name="Too heavy for small models icon" descr="Too heavy for small mode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Too heavy for small models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On-device models need short summaries first, detail on request.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</a:t>
            </a:r>
            <a:endParaRPr lang="en-US" sz="48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tokens per KB search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third card is the target: what the prototype returns per search today.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2800" dirty="0"/>
          </a:p>
        </p:txBody>
      </p:sp>
      <p:sp>
        <p:nvSpPr>
          <p:cNvPr id="3" name="src 0"/>
          <p:cNvSpPr/>
          <p:nvPr/>
        </p:nvSpPr>
        <p:spPr>
          <a:xfrm>
            <a:off x="548640" y="132588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ck index + PDSC badge"/>
          <p:cNvSpPr/>
          <p:nvPr/>
        </p:nvSpPr>
        <p:spPr>
          <a:xfrm>
            <a:off x="685800" y="1481328"/>
            <a:ext cx="603504" cy="603504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5" name="Pack index + PDSC icon" descr="Pack index + PDS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6322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Pack index + PDSC</a:t>
            </a:r>
            <a:endParaRPr lang="en-US" sz="1400" dirty="0"/>
          </a:p>
        </p:txBody>
      </p:sp>
      <p:sp>
        <p:nvSpPr>
          <p:cNvPr id="7" name="edge "/>
          <p:cNvSpPr/>
          <p:nvPr/>
        </p:nvSpPr>
        <p:spPr>
          <a:xfrm>
            <a:off x="3246120" y="1783080"/>
            <a:ext cx="914400" cy="8458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rc 1"/>
          <p:cNvSpPr/>
          <p:nvPr/>
        </p:nvSpPr>
        <p:spPr>
          <a:xfrm>
            <a:off x="548640" y="2441448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msis-skills badge"/>
          <p:cNvSpPr/>
          <p:nvPr/>
        </p:nvSpPr>
        <p:spPr>
          <a:xfrm>
            <a:off x="685800" y="2596896"/>
            <a:ext cx="603504" cy="603504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10" name="cmsis-skills icon" descr="cmsis-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74777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53288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cmsis-skills</a:t>
            </a:r>
            <a:endParaRPr lang="en-US" sz="1400" dirty="0"/>
          </a:p>
        </p:txBody>
      </p:sp>
      <p:sp>
        <p:nvSpPr>
          <p:cNvPr id="12" name="edge "/>
          <p:cNvSpPr/>
          <p:nvPr/>
        </p:nvSpPr>
        <p:spPr>
          <a:xfrm>
            <a:off x="3246120" y="2898648"/>
            <a:ext cx="914400" cy="5029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rc 2"/>
          <p:cNvSpPr/>
          <p:nvPr/>
        </p:nvSpPr>
        <p:spPr>
          <a:xfrm>
            <a:off x="548640" y="3557016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evtools messages badge"/>
          <p:cNvSpPr/>
          <p:nvPr/>
        </p:nvSpPr>
        <p:spPr>
          <a:xfrm>
            <a:off x="685800" y="3712464"/>
            <a:ext cx="603504" cy="603504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15" name="devtools messages icon" descr="devtools messag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863340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64845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devtools messages</a:t>
            </a:r>
            <a:endParaRPr lang="en-US" sz="1400" dirty="0"/>
          </a:p>
        </p:txBody>
      </p:sp>
      <p:sp>
        <p:nvSpPr>
          <p:cNvPr id="17" name="edge "/>
          <p:cNvSpPr/>
          <p:nvPr/>
        </p:nvSpPr>
        <p:spPr>
          <a:xfrm flipV="1">
            <a:off x="3246120" y="3268980"/>
            <a:ext cx="914400" cy="74523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rc 3"/>
          <p:cNvSpPr/>
          <p:nvPr/>
        </p:nvSpPr>
        <p:spPr>
          <a:xfrm>
            <a:off x="548640" y="4672584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cs and guides badge"/>
          <p:cNvSpPr/>
          <p:nvPr/>
        </p:nvSpPr>
        <p:spPr>
          <a:xfrm>
            <a:off x="685800" y="4828032"/>
            <a:ext cx="603504" cy="603504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20" name="Docs and guides icon" descr="Docs and gui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978908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76402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Docs and guides</a:t>
            </a:r>
            <a:endParaRPr lang="en-US" sz="1400" dirty="0"/>
          </a:p>
        </p:txBody>
      </p:sp>
      <p:sp>
        <p:nvSpPr>
          <p:cNvPr id="22" name="edge "/>
          <p:cNvSpPr/>
          <p:nvPr/>
        </p:nvSpPr>
        <p:spPr>
          <a:xfrm flipV="1">
            <a:off x="3246120" y="3589020"/>
            <a:ext cx="914400" cy="15407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kb store"/>
          <p:cNvSpPr/>
          <p:nvPr/>
        </p:nvSpPr>
        <p:spPr>
          <a:xfrm>
            <a:off x="4206240" y="1325880"/>
            <a:ext cx="3840480" cy="4251960"/>
          </a:xfrm>
          <a:prstGeom prst="roundRect">
            <a:avLst>
              <a:gd name="adj" fmla="val 23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4348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Knowledge base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443484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Git: Markdown units  →  CI  →  one SQLite file</a:t>
            </a:r>
            <a:endParaRPr lang="en-US" sz="1200" dirty="0"/>
          </a:p>
        </p:txBody>
      </p:sp>
      <p:sp>
        <p:nvSpPr>
          <p:cNvPr id="26" name="mini edge"/>
          <p:cNvSpPr/>
          <p:nvPr/>
        </p:nvSpPr>
        <p:spPr>
          <a:xfrm flipH="1">
            <a:off x="5029200" y="2651760"/>
            <a:ext cx="109728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7" name="mini edge"/>
          <p:cNvSpPr/>
          <p:nvPr/>
        </p:nvSpPr>
        <p:spPr>
          <a:xfrm>
            <a:off x="6126480" y="2651760"/>
            <a:ext cx="109728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mini edge"/>
          <p:cNvSpPr/>
          <p:nvPr/>
        </p:nvSpPr>
        <p:spPr>
          <a:xfrm flipH="1">
            <a:off x="5394960" y="2651760"/>
            <a:ext cx="731520" cy="12344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9" name="mini edge"/>
          <p:cNvSpPr/>
          <p:nvPr/>
        </p:nvSpPr>
        <p:spPr>
          <a:xfrm>
            <a:off x="5394960" y="3886200"/>
            <a:ext cx="1280160" cy="457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0" name="mini edge"/>
          <p:cNvSpPr/>
          <p:nvPr/>
        </p:nvSpPr>
        <p:spPr>
          <a:xfrm flipH="1">
            <a:off x="6035040" y="3931920"/>
            <a:ext cx="640080" cy="9144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1" name="mini edge"/>
          <p:cNvSpPr/>
          <p:nvPr/>
        </p:nvSpPr>
        <p:spPr>
          <a:xfrm>
            <a:off x="5029200" y="2788920"/>
            <a:ext cx="1005840" cy="20574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2" name="mini edge"/>
          <p:cNvSpPr/>
          <p:nvPr/>
        </p:nvSpPr>
        <p:spPr>
          <a:xfrm flipH="1">
            <a:off x="6675120" y="2880360"/>
            <a:ext cx="548640" cy="10515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3" name="mini node"/>
          <p:cNvSpPr/>
          <p:nvPr/>
        </p:nvSpPr>
        <p:spPr>
          <a:xfrm>
            <a:off x="4754880" y="2514600"/>
            <a:ext cx="548640" cy="54864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4" name="mini node"/>
          <p:cNvSpPr/>
          <p:nvPr/>
        </p:nvSpPr>
        <p:spPr>
          <a:xfrm>
            <a:off x="5852160" y="23774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5" name="mini node"/>
          <p:cNvSpPr/>
          <p:nvPr/>
        </p:nvSpPr>
        <p:spPr>
          <a:xfrm>
            <a:off x="6949440" y="260604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6" name="mini node"/>
          <p:cNvSpPr/>
          <p:nvPr/>
        </p:nvSpPr>
        <p:spPr>
          <a:xfrm>
            <a:off x="5120640" y="3611880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7" name="mini node"/>
          <p:cNvSpPr/>
          <p:nvPr/>
        </p:nvSpPr>
        <p:spPr>
          <a:xfrm>
            <a:off x="6400800" y="3657600"/>
            <a:ext cx="548640" cy="5486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8" name="mini node"/>
          <p:cNvSpPr/>
          <p:nvPr/>
        </p:nvSpPr>
        <p:spPr>
          <a:xfrm>
            <a:off x="5760720" y="4572000"/>
            <a:ext cx="548640" cy="54864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9" name="edge MCP"/>
          <p:cNvSpPr/>
          <p:nvPr/>
        </p:nvSpPr>
        <p:spPr>
          <a:xfrm>
            <a:off x="8092440" y="3429000"/>
            <a:ext cx="100584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Text 34"/>
          <p:cNvSpPr txBox="1"/>
          <p:nvPr/>
        </p:nvSpPr>
        <p:spPr>
          <a:xfrm>
            <a:off x="8321040" y="3282696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MCP</a:t>
            </a:r>
            <a:endParaRPr lang="en-US" sz="1100" dirty="0"/>
          </a:p>
        </p:txBody>
      </p:sp>
      <p:sp>
        <p:nvSpPr>
          <p:cNvPr id="41" name="cda"/>
          <p:cNvSpPr/>
          <p:nvPr/>
        </p:nvSpPr>
        <p:spPr>
          <a:xfrm>
            <a:off x="9144000" y="1325880"/>
            <a:ext cx="2499055" cy="425196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CDA agent badge"/>
          <p:cNvSpPr/>
          <p:nvPr/>
        </p:nvSpPr>
        <p:spPr>
          <a:xfrm>
            <a:off x="9982048" y="1600200"/>
            <a:ext cx="822960" cy="82296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43" name="CDA agent icon" descr="CDA ag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788" y="1805940"/>
            <a:ext cx="411480" cy="41148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281160" y="2514600"/>
            <a:ext cx="2224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CDA agent</a:t>
            </a:r>
            <a:endParaRPr lang="en-US" sz="1700" dirty="0"/>
          </a:p>
        </p:txBody>
      </p:sp>
      <p:sp>
        <p:nvSpPr>
          <p:cNvPr id="45" name="Text 38"/>
          <p:cNvSpPr txBox="1"/>
          <p:nvPr/>
        </p:nvSpPr>
        <p:spPr>
          <a:xfrm>
            <a:off x="9326880" y="2971800"/>
            <a:ext cx="2133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 units for this project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read one unit in full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2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follow the graph one hop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Ships as a knowledge/ folder inside a CMSIS Pack. Vendors can add their own. No server, no graph DB, works offline.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is structured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Five real examples from the prototype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 node. Two kinds of nodes</a:t>
            </a:r>
            <a:endParaRPr lang="en-US" sz="2800" dirty="0"/>
          </a:p>
        </p:txBody>
      </p:sp>
      <p:sp>
        <p:nvSpPr>
          <p:cNvPr id="3" name="entities card"/>
          <p:cNvSpPr/>
          <p:nvPr/>
        </p:nvSpPr>
        <p:spPr>
          <a:xfrm>
            <a:off x="548640" y="1325880"/>
            <a:ext cx="512064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enerated badge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2F4F5A"/>
          </a:solidFill>
          <a:ln w="12700">
            <a:solidFill>
              <a:srgbClr val="2F4F5A"/>
            </a:solidFill>
            <a:prstDash val="solid"/>
          </a:ln>
        </p:spPr>
      </p:sp>
      <p:pic>
        <p:nvPicPr>
          <p:cNvPr id="5" name="generated icon" descr="genera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Entities: generated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Built from the pack index and PDSC files. Nobody edits them.</a:t>
            </a:r>
            <a:endParaRPr lang="en-US" sz="1400" dirty="0"/>
          </a:p>
        </p:txBody>
      </p:sp>
      <p:sp>
        <p:nvSpPr>
          <p:cNvPr id="8" name="entity chip Pack"/>
          <p:cNvSpPr/>
          <p:nvPr/>
        </p:nvSpPr>
        <p:spPr>
          <a:xfrm>
            <a:off x="868680" y="28803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Pack</a:t>
            </a:r>
            <a:endParaRPr lang="en-US" sz="1200" dirty="0"/>
          </a:p>
        </p:txBody>
      </p:sp>
      <p:sp>
        <p:nvSpPr>
          <p:cNvPr id="10" name="entity chip Family"/>
          <p:cNvSpPr/>
          <p:nvPr/>
        </p:nvSpPr>
        <p:spPr>
          <a:xfrm>
            <a:off x="2029968" y="28803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29968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Family</a:t>
            </a:r>
            <a:endParaRPr lang="en-US" sz="1200" dirty="0"/>
          </a:p>
        </p:txBody>
      </p:sp>
      <p:sp>
        <p:nvSpPr>
          <p:cNvPr id="12" name="entity chip Device"/>
          <p:cNvSpPr/>
          <p:nvPr/>
        </p:nvSpPr>
        <p:spPr>
          <a:xfrm>
            <a:off x="3191256" y="28803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91256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Device</a:t>
            </a:r>
            <a:endParaRPr lang="en-US" sz="1200" dirty="0"/>
          </a:p>
        </p:txBody>
      </p:sp>
      <p:sp>
        <p:nvSpPr>
          <p:cNvPr id="14" name="entity chip Board"/>
          <p:cNvSpPr/>
          <p:nvPr/>
        </p:nvSpPr>
        <p:spPr>
          <a:xfrm>
            <a:off x="4352544" y="28803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52544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Board</a:t>
            </a:r>
            <a:endParaRPr lang="en-US" sz="1200" dirty="0"/>
          </a:p>
        </p:txBody>
      </p:sp>
      <p:sp>
        <p:nvSpPr>
          <p:cNvPr id="16" name="entity chip Core"/>
          <p:cNvSpPr/>
          <p:nvPr/>
        </p:nvSpPr>
        <p:spPr>
          <a:xfrm>
            <a:off x="868680" y="35661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Core</a:t>
            </a:r>
            <a:endParaRPr lang="en-US" sz="1200" dirty="0"/>
          </a:p>
        </p:txBody>
      </p:sp>
      <p:sp>
        <p:nvSpPr>
          <p:cNvPr id="18" name="entity chip Component"/>
          <p:cNvSpPr/>
          <p:nvPr/>
        </p:nvSpPr>
        <p:spPr>
          <a:xfrm>
            <a:off x="2029968" y="35661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29968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Component</a:t>
            </a:r>
            <a:endParaRPr lang="en-US" sz="1200" dirty="0"/>
          </a:p>
        </p:txBody>
      </p:sp>
      <p:sp>
        <p:nvSpPr>
          <p:cNvPr id="20" name="entity chip API"/>
          <p:cNvSpPr/>
          <p:nvPr/>
        </p:nvSpPr>
        <p:spPr>
          <a:xfrm>
            <a:off x="3191256" y="35661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91256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API</a:t>
            </a:r>
            <a:endParaRPr lang="en-US" sz="1200" dirty="0"/>
          </a:p>
        </p:txBody>
      </p:sp>
      <p:sp>
        <p:nvSpPr>
          <p:cNvPr id="22" name="entity chip Toolchain"/>
          <p:cNvSpPr/>
          <p:nvPr/>
        </p:nvSpPr>
        <p:spPr>
          <a:xfrm>
            <a:off x="4352544" y="3566160"/>
            <a:ext cx="105156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52544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Toolchain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26,903 entities today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They are the join keys to Pack Docs and to the user's project.</a:t>
            </a:r>
            <a:endParaRPr lang="en-US" sz="1400" dirty="0"/>
          </a:p>
        </p:txBody>
      </p:sp>
      <p:sp>
        <p:nvSpPr>
          <p:cNvPr id="26" name="units card"/>
          <p:cNvSpPr/>
          <p:nvPr/>
        </p:nvSpPr>
        <p:spPr>
          <a:xfrm>
            <a:off x="5989320" y="1325880"/>
            <a:ext cx="5653735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urated badge"/>
          <p:cNvSpPr/>
          <p:nvPr/>
        </p:nvSpPr>
        <p:spPr>
          <a:xfrm>
            <a:off x="6263640" y="1554480"/>
            <a:ext cx="731520" cy="73152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28" name="curated icon" descr="cura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7804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Knowledge units: curated</a:t>
            </a:r>
            <a:endParaRPr lang="en-US" sz="200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Markdown file each, in Git, reviewed by a domain owner.</a:t>
            </a:r>
            <a:endParaRPr lang="en-US" sz="1400" dirty="0"/>
          </a:p>
        </p:txBody>
      </p:sp>
      <p:sp>
        <p:nvSpPr>
          <p:cNvPr id="31" name="unit chip procedure"/>
          <p:cNvSpPr/>
          <p:nvPr/>
        </p:nvSpPr>
        <p:spPr>
          <a:xfrm>
            <a:off x="6309360" y="278892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0936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Procedure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50392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to do it</a:t>
            </a:r>
            <a:endParaRPr lang="en-US" sz="1500" dirty="0"/>
          </a:p>
        </p:txBody>
      </p:sp>
      <p:sp>
        <p:nvSpPr>
          <p:cNvPr id="34" name="unit chip rule"/>
          <p:cNvSpPr/>
          <p:nvPr/>
        </p:nvSpPr>
        <p:spPr>
          <a:xfrm>
            <a:off x="6309360" y="347472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30936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Rule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850392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Must or should</a:t>
            </a:r>
            <a:endParaRPr lang="en-US" sz="1500" dirty="0"/>
          </a:p>
        </p:txBody>
      </p:sp>
      <p:sp>
        <p:nvSpPr>
          <p:cNvPr id="37" name="unit chip concept"/>
          <p:cNvSpPr/>
          <p:nvPr/>
        </p:nvSpPr>
        <p:spPr>
          <a:xfrm>
            <a:off x="6309360" y="416052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30936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Concept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850392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it means</a:t>
            </a:r>
            <a:endParaRPr lang="en-US" sz="1500" dirty="0"/>
          </a:p>
        </p:txBody>
      </p:sp>
      <p:sp>
        <p:nvSpPr>
          <p:cNvPr id="40" name="unit chip troubleshooting"/>
          <p:cNvSpPr/>
          <p:nvPr/>
        </p:nvSpPr>
        <p:spPr>
          <a:xfrm>
            <a:off x="6309360" y="484632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309360" y="4846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Troubleshooting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850392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Error, cause, fix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Edges connect them: part_of, applies_to, requires, constrains, refines.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one device and everything around it</a:t>
            </a:r>
            <a:endParaRPr lang="en-US" sz="2800" dirty="0"/>
          </a:p>
        </p:txBody>
      </p:sp>
      <p:sp>
        <p:nvSpPr>
          <p:cNvPr id="3" name="node B-U585I-IOT02A"/>
          <p:cNvSpPr/>
          <p:nvPr/>
        </p:nvSpPr>
        <p:spPr>
          <a:xfrm>
            <a:off x="548640" y="21031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B-U585I-IOT02A</a:t>
            </a:r>
            <a:endParaRPr lang="en-US" sz="1300" dirty="0"/>
          </a:p>
        </p:txBody>
      </p:sp>
      <p:sp>
        <p:nvSpPr>
          <p:cNvPr id="6" name="node STM32U585AIIx"/>
          <p:cNvSpPr/>
          <p:nvPr/>
        </p:nvSpPr>
        <p:spPr>
          <a:xfrm>
            <a:off x="2862072" y="21031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53512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DEVICE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953512" y="23774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STM32U585AIIx</a:t>
            </a:r>
            <a:endParaRPr lang="en-US" sz="1300" dirty="0"/>
          </a:p>
        </p:txBody>
      </p:sp>
      <p:sp>
        <p:nvSpPr>
          <p:cNvPr id="9" name="node STM32U585"/>
          <p:cNvSpPr/>
          <p:nvPr/>
        </p:nvSpPr>
        <p:spPr>
          <a:xfrm>
            <a:off x="5175504" y="21031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66944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SUBFAMILY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266944" y="23774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STM32U585</a:t>
            </a:r>
            <a:endParaRPr lang="en-US" sz="1300" dirty="0"/>
          </a:p>
        </p:txBody>
      </p:sp>
      <p:sp>
        <p:nvSpPr>
          <p:cNvPr id="12" name="node STM32U5 Series"/>
          <p:cNvSpPr/>
          <p:nvPr/>
        </p:nvSpPr>
        <p:spPr>
          <a:xfrm>
            <a:off x="7488936" y="21031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80376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FAMILY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580376" y="23774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STM32U5 Series</a:t>
            </a:r>
            <a:endParaRPr lang="en-US" sz="1300" dirty="0"/>
          </a:p>
        </p:txBody>
      </p:sp>
      <p:sp>
        <p:nvSpPr>
          <p:cNvPr id="15" name="node Keil::STM32U5xx_DFP"/>
          <p:cNvSpPr/>
          <p:nvPr/>
        </p:nvSpPr>
        <p:spPr>
          <a:xfrm>
            <a:off x="9802368" y="21031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893808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PACK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93808" y="237744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Keil::STM32U5xx_DFP</a:t>
            </a:r>
            <a:endParaRPr lang="en-US" sz="1200" dirty="0"/>
          </a:p>
        </p:txBody>
      </p:sp>
      <p:sp>
        <p:nvSpPr>
          <p:cNvPr id="18" name="edge mounted_on"/>
          <p:cNvSpPr/>
          <p:nvPr/>
        </p:nvSpPr>
        <p:spPr>
          <a:xfrm>
            <a:off x="2377440" y="2537460"/>
            <a:ext cx="484632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116836" y="1732788"/>
            <a:ext cx="10058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mounted_on</a:t>
            </a:r>
            <a:endParaRPr lang="en-US" sz="1100" dirty="0"/>
          </a:p>
        </p:txBody>
      </p:sp>
      <p:sp>
        <p:nvSpPr>
          <p:cNvPr id="20" name="edge part_of"/>
          <p:cNvSpPr/>
          <p:nvPr/>
        </p:nvSpPr>
        <p:spPr>
          <a:xfrm>
            <a:off x="4690872" y="2537460"/>
            <a:ext cx="484632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21708" y="1732788"/>
            <a:ext cx="8229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part_of</a:t>
            </a:r>
            <a:endParaRPr lang="en-US" sz="1100" dirty="0"/>
          </a:p>
        </p:txBody>
      </p:sp>
      <p:sp>
        <p:nvSpPr>
          <p:cNvPr id="22" name="edge part_of"/>
          <p:cNvSpPr/>
          <p:nvPr/>
        </p:nvSpPr>
        <p:spPr>
          <a:xfrm>
            <a:off x="7004304" y="2537460"/>
            <a:ext cx="484632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835140" y="1732788"/>
            <a:ext cx="8229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part_of</a:t>
            </a:r>
            <a:endParaRPr lang="en-US" sz="1100" dirty="0"/>
          </a:p>
        </p:txBody>
      </p:sp>
      <p:sp>
        <p:nvSpPr>
          <p:cNvPr id="24" name="edge part_of"/>
          <p:cNvSpPr/>
          <p:nvPr/>
        </p:nvSpPr>
        <p:spPr>
          <a:xfrm>
            <a:off x="9317736" y="2537460"/>
            <a:ext cx="484632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148572" y="1732788"/>
            <a:ext cx="8229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part_of</a:t>
            </a:r>
            <a:endParaRPr lang="en-US" sz="1100" dirty="0"/>
          </a:p>
        </p:txBody>
      </p:sp>
      <p:sp>
        <p:nvSpPr>
          <p:cNvPr id="26" name="node Cortex-M33"/>
          <p:cNvSpPr/>
          <p:nvPr/>
        </p:nvSpPr>
        <p:spPr>
          <a:xfrm>
            <a:off x="2862072" y="365760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953512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CORE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953512" y="39319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Cortex-M33</a:t>
            </a:r>
            <a:endParaRPr lang="en-US" sz="1300" dirty="0"/>
          </a:p>
        </p:txBody>
      </p:sp>
      <p:sp>
        <p:nvSpPr>
          <p:cNvPr id="29" name="edge has_core"/>
          <p:cNvSpPr/>
          <p:nvPr/>
        </p:nvSpPr>
        <p:spPr>
          <a:xfrm>
            <a:off x="3776472" y="2971800"/>
            <a:ext cx="914" cy="6858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959352" y="3168396"/>
            <a:ext cx="8229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has_core</a:t>
            </a:r>
            <a:endParaRPr lang="en-US" sz="1100" dirty="0"/>
          </a:p>
        </p:txBody>
      </p:sp>
      <p:sp>
        <p:nvSpPr>
          <p:cNvPr id="31" name="node Keil::B-U585I-IOT02A_BSP"/>
          <p:cNvSpPr/>
          <p:nvPr/>
        </p:nvSpPr>
        <p:spPr>
          <a:xfrm>
            <a:off x="548640" y="365760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40080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PACK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9319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Keil::B-U585I-IOT02A_BSP</a:t>
            </a:r>
            <a:endParaRPr lang="en-US" sz="1100" dirty="0"/>
          </a:p>
        </p:txBody>
      </p:sp>
      <p:sp>
        <p:nvSpPr>
          <p:cNvPr id="34" name="edge part_of"/>
          <p:cNvSpPr/>
          <p:nvPr/>
        </p:nvSpPr>
        <p:spPr>
          <a:xfrm>
            <a:off x="1463040" y="2971800"/>
            <a:ext cx="914" cy="6858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645920" y="3168396"/>
            <a:ext cx="73152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part_of</a:t>
            </a:r>
            <a:endParaRPr lang="en-US" sz="1100" dirty="0"/>
          </a:p>
        </p:txBody>
      </p:sp>
      <p:sp>
        <p:nvSpPr>
          <p:cNvPr id="36" name="payoff"/>
          <p:cNvSpPr/>
          <p:nvPr/>
        </p:nvSpPr>
        <p:spPr>
          <a:xfrm>
            <a:off x="5175504" y="3611880"/>
            <a:ext cx="6467551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04104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04104" y="4160520"/>
            <a:ext cx="601035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unit tagged for the STM32U5 Series is valid for every device below it.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unit tagged Cortex-M33 reaches this device through has_core.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 update removes a target? CI flags every unit that pointed at it.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Real data, generated from the STM32U5 DFP and B-U585I-IOT02A BSP.  ID format: </a:t>
            </a:r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device:STM32U585AIIx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anatomy of one knowledge unit</a:t>
            </a:r>
            <a:endParaRPr lang="en-US" sz="2800" dirty="0"/>
          </a:p>
        </p:txBody>
      </p:sp>
      <p:sp>
        <p:nvSpPr>
          <p:cNvPr id="3" name="file card"/>
          <p:cNvSpPr/>
          <p:nvPr/>
        </p:nvSpPr>
        <p:spPr>
          <a:xfrm>
            <a:off x="548640" y="1280160"/>
            <a:ext cx="6675120" cy="4846320"/>
          </a:xfrm>
          <a:prstGeom prst="roundRect">
            <a:avLst>
              <a:gd name="adj" fmla="val 18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ts-packchk-m302.md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828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ts-packchk-m302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77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51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error-catalog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26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symptoms: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00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"M302"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74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"No vendor tag found in the PDSC file..."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749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applies_to: { tool: [packchk] }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023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draft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97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devtools@30f5e81 packchk/README.md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72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license: Apache-2.0   mode: V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846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120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Cause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394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 name is mandatory ... Within &lt;package&gt;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669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&lt;vendor&gt;Keil&lt;/vendor&gt;.</a:t>
            </a:r>
            <a:endParaRPr lang="en-US" sz="1200" dirty="0"/>
          </a:p>
        </p:txBody>
      </p:sp>
      <p:sp>
        <p:nvSpPr>
          <p:cNvPr id="20" name="marker 1"/>
          <p:cNvSpPr/>
          <p:nvPr/>
        </p:nvSpPr>
        <p:spPr>
          <a:xfrm>
            <a:off x="777240" y="224028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marker 2"/>
          <p:cNvSpPr/>
          <p:nvPr/>
        </p:nvSpPr>
        <p:spPr>
          <a:xfrm>
            <a:off x="777240" y="303580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marker 3"/>
          <p:cNvSpPr/>
          <p:nvPr/>
        </p:nvSpPr>
        <p:spPr>
          <a:xfrm>
            <a:off x="777240" y="37490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marker 4"/>
          <p:cNvSpPr/>
          <p:nvPr/>
        </p:nvSpPr>
        <p:spPr>
          <a:xfrm>
            <a:off x="777240" y="427024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marker 5"/>
          <p:cNvSpPr/>
          <p:nvPr/>
        </p:nvSpPr>
        <p:spPr>
          <a:xfrm>
            <a:off x="777240" y="53675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expl marker 0"/>
          <p:cNvSpPr/>
          <p:nvPr/>
        </p:nvSpPr>
        <p:spPr>
          <a:xfrm>
            <a:off x="7543800" y="13716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Stable id and one of five types.</a:t>
            </a:r>
            <a:endParaRPr lang="en-US" sz="1300" dirty="0"/>
          </a:p>
        </p:txBody>
      </p:sp>
      <p:sp>
        <p:nvSpPr>
          <p:cNvPr id="34" name="expl marker 1"/>
          <p:cNvSpPr/>
          <p:nvPr/>
        </p:nvSpPr>
        <p:spPr>
          <a:xfrm>
            <a:off x="7543800" y="23225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4380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2276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 is found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26426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Exact error text. A pasted message matches first.</a:t>
            </a:r>
            <a:endParaRPr lang="en-US" sz="1300" dirty="0"/>
          </a:p>
        </p:txBody>
      </p:sp>
      <p:sp>
        <p:nvSpPr>
          <p:cNvPr id="38" name="expl marker 2"/>
          <p:cNvSpPr/>
          <p:nvPr/>
        </p:nvSpPr>
        <p:spPr>
          <a:xfrm>
            <a:off x="7543800" y="32735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438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3227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it applies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3593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Points at an entity. Here: the packchk tool.</a:t>
            </a:r>
            <a:endParaRPr lang="en-US" sz="1300" dirty="0"/>
          </a:p>
        </p:txBody>
      </p:sp>
      <p:sp>
        <p:nvSpPr>
          <p:cNvPr id="42" name="expl marker 3"/>
          <p:cNvSpPr/>
          <p:nvPr/>
        </p:nvSpPr>
        <p:spPr>
          <a:xfrm>
            <a:off x="7543800" y="42245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438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092440" y="4178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it comes from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8092440" y="4544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Source commit, license, mode. Draft until a domain owner reviews it.</a:t>
            </a:r>
            <a:endParaRPr lang="en-US" sz="1300" dirty="0"/>
          </a:p>
        </p:txBody>
      </p:sp>
      <p:sp>
        <p:nvSpPr>
          <p:cNvPr id="46" name="expl marker 4"/>
          <p:cNvSpPr/>
          <p:nvPr/>
        </p:nvSpPr>
        <p:spPr>
          <a:xfrm>
            <a:off x="7543800" y="51755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4380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092440" y="5129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knowledge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8092440" y="54955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Plain Markdown body. Never shortened when retrieved.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a skill becomes a node with explicit dependencies</a:t>
            </a:r>
            <a:endParaRPr lang="en-US" sz="2800" dirty="0"/>
          </a:p>
        </p:txBody>
      </p:sp>
      <p:sp>
        <p:nvSpPr>
          <p:cNvPr id="3" name="node generate-debug-sequences"/>
          <p:cNvSpPr/>
          <p:nvPr/>
        </p:nvSpPr>
        <p:spPr>
          <a:xfrm>
            <a:off x="4434840" y="3063240"/>
            <a:ext cx="274320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26280" y="31363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PROCEDURE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3337560"/>
            <a:ext cx="2560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generate-debug-sequences</a:t>
            </a:r>
            <a:endParaRPr lang="en-US" sz="1400" dirty="0"/>
          </a:p>
        </p:txBody>
      </p:sp>
      <p:sp>
        <p:nvSpPr>
          <p:cNvPr id="6" name="node debug-sequence-contract"/>
          <p:cNvSpPr/>
          <p:nvPr/>
        </p:nvSpPr>
        <p:spPr>
          <a:xfrm>
            <a:off x="8915400" y="1280160"/>
            <a:ext cx="2697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006840" y="13533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3"/>
                </a:solidFill>
              </a:rPr>
              <a:t>CONCEPT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debug-sequence-contract</a:t>
            </a:r>
            <a:endParaRPr lang="en-US" sz="1200" dirty="0"/>
          </a:p>
        </p:txBody>
      </p:sp>
      <p:sp>
        <p:nvSpPr>
          <p:cNvPr id="9" name="edge requires"/>
          <p:cNvSpPr/>
          <p:nvPr/>
        </p:nvSpPr>
        <p:spPr>
          <a:xfrm flipV="1">
            <a:off x="7178040" y="1691640"/>
            <a:ext cx="1737360" cy="18516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635240" y="1968246"/>
            <a:ext cx="8229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requires</a:t>
            </a:r>
            <a:endParaRPr lang="en-US" sz="1100" dirty="0"/>
          </a:p>
        </p:txBody>
      </p:sp>
      <p:sp>
        <p:nvSpPr>
          <p:cNvPr id="11" name="node debug-knowledge"/>
          <p:cNvSpPr/>
          <p:nvPr/>
        </p:nvSpPr>
        <p:spPr>
          <a:xfrm>
            <a:off x="8915400" y="2395728"/>
            <a:ext cx="2697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006840" y="2468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1"/>
                </a:solidFill>
              </a:rPr>
              <a:t>PROCEDURE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6700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debug-knowledge</a:t>
            </a:r>
            <a:endParaRPr lang="en-US" sz="1200" dirty="0"/>
          </a:p>
        </p:txBody>
      </p:sp>
      <p:sp>
        <p:nvSpPr>
          <p:cNvPr id="14" name="edge "/>
          <p:cNvSpPr/>
          <p:nvPr/>
        </p:nvSpPr>
        <p:spPr>
          <a:xfrm flipV="1">
            <a:off x="7178040" y="2807208"/>
            <a:ext cx="1737360" cy="73609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node validate-pdsc-sequence-xml"/>
          <p:cNvSpPr/>
          <p:nvPr/>
        </p:nvSpPr>
        <p:spPr>
          <a:xfrm>
            <a:off x="8915400" y="3511296"/>
            <a:ext cx="2697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06840" y="3584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1"/>
                </a:solidFill>
              </a:rPr>
              <a:t>PROCEDURE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378561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validate-pdsc-sequence-xml</a:t>
            </a:r>
            <a:endParaRPr lang="en-US" sz="1200" dirty="0"/>
          </a:p>
        </p:txBody>
      </p:sp>
      <p:sp>
        <p:nvSpPr>
          <p:cNvPr id="18" name="edge "/>
          <p:cNvSpPr/>
          <p:nvPr/>
        </p:nvSpPr>
        <p:spPr>
          <a:xfrm>
            <a:off x="7178040" y="3543300"/>
            <a:ext cx="1737360" cy="37947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node apply-confirmed-pdsc-proposal"/>
          <p:cNvSpPr/>
          <p:nvPr/>
        </p:nvSpPr>
        <p:spPr>
          <a:xfrm>
            <a:off x="8915400" y="4626864"/>
            <a:ext cx="26974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06840" y="47000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1"/>
                </a:solidFill>
              </a:rPr>
              <a:t>PROCEDURE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49011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apply-confirmed-pdsc-proposal</a:t>
            </a:r>
            <a:endParaRPr lang="en-US" sz="1200" dirty="0"/>
          </a:p>
        </p:txBody>
      </p:sp>
      <p:sp>
        <p:nvSpPr>
          <p:cNvPr id="22" name="edge "/>
          <p:cNvSpPr/>
          <p:nvPr/>
        </p:nvSpPr>
        <p:spPr>
          <a:xfrm>
            <a:off x="7178040" y="3543300"/>
            <a:ext cx="1737360" cy="149504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node No fabrication"/>
          <p:cNvSpPr/>
          <p:nvPr/>
        </p:nvSpPr>
        <p:spPr>
          <a:xfrm>
            <a:off x="548640" y="128016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" y="1353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2"/>
                </a:solidFill>
              </a:rPr>
              <a:t>RULE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15544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fabrication</a:t>
            </a:r>
            <a:endParaRPr lang="en-US" sz="1300" dirty="0"/>
          </a:p>
        </p:txBody>
      </p:sp>
      <p:sp>
        <p:nvSpPr>
          <p:cNvPr id="26" name="edge constrains"/>
          <p:cNvSpPr/>
          <p:nvPr/>
        </p:nvSpPr>
        <p:spPr>
          <a:xfrm>
            <a:off x="2926080" y="1691640"/>
            <a:ext cx="1508760" cy="18516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223260" y="1968246"/>
            <a:ext cx="9144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constrains</a:t>
            </a:r>
            <a:endParaRPr lang="en-US" sz="1100" dirty="0"/>
          </a:p>
        </p:txBody>
      </p:sp>
      <p:sp>
        <p:nvSpPr>
          <p:cNvPr id="28" name="node Portability"/>
          <p:cNvSpPr/>
          <p:nvPr/>
        </p:nvSpPr>
        <p:spPr>
          <a:xfrm>
            <a:off x="548640" y="2395728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2"/>
                </a:solidFill>
              </a:rPr>
              <a:t>RULE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26700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Portability</a:t>
            </a:r>
            <a:endParaRPr lang="en-US" sz="1300" dirty="0"/>
          </a:p>
        </p:txBody>
      </p:sp>
      <p:sp>
        <p:nvSpPr>
          <p:cNvPr id="31" name="edge "/>
          <p:cNvSpPr/>
          <p:nvPr/>
        </p:nvSpPr>
        <p:spPr>
          <a:xfrm>
            <a:off x="2926080" y="2807208"/>
            <a:ext cx="1508760" cy="73609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node Scope"/>
          <p:cNvSpPr/>
          <p:nvPr/>
        </p:nvSpPr>
        <p:spPr>
          <a:xfrm>
            <a:off x="548640" y="3511296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0080" y="3584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2"/>
                </a:solidFill>
              </a:rPr>
              <a:t>RULE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7856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Scope</a:t>
            </a:r>
            <a:endParaRPr lang="en-US" sz="1300" dirty="0"/>
          </a:p>
        </p:txBody>
      </p:sp>
      <p:sp>
        <p:nvSpPr>
          <p:cNvPr id="35" name="edge "/>
          <p:cNvSpPr/>
          <p:nvPr/>
        </p:nvSpPr>
        <p:spPr>
          <a:xfrm flipV="1">
            <a:off x="2926080" y="3543300"/>
            <a:ext cx="1508760" cy="37947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node Critical blockers"/>
          <p:cNvSpPr/>
          <p:nvPr/>
        </p:nvSpPr>
        <p:spPr>
          <a:xfrm>
            <a:off x="548640" y="4626864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" y="47000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2"/>
                </a:solidFill>
              </a:rPr>
              <a:t>RULE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9011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Critical blockers</a:t>
            </a:r>
            <a:endParaRPr lang="en-US" sz="1300" dirty="0"/>
          </a:p>
        </p:txBody>
      </p:sp>
      <p:sp>
        <p:nvSpPr>
          <p:cNvPr id="39" name="edge "/>
          <p:cNvSpPr/>
          <p:nvPr/>
        </p:nvSpPr>
        <p:spPr>
          <a:xfrm flipV="1">
            <a:off x="2926080" y="3543300"/>
            <a:ext cx="1508760" cy="149504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node &lt;pdsc&gt;-debug-knowledge.md"/>
          <p:cNvSpPr/>
          <p:nvPr/>
        </p:nvSpPr>
        <p:spPr>
          <a:xfrm>
            <a:off x="4526280" y="128016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61772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</a:rPr>
              <a:t>ARTIFACT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617720" y="155448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&lt;pdsc&gt;-debug-knowledge.md</a:t>
            </a:r>
            <a:endParaRPr lang="en-US" sz="1100" dirty="0"/>
          </a:p>
        </p:txBody>
      </p:sp>
      <p:sp>
        <p:nvSpPr>
          <p:cNvPr id="43" name="edge consumes"/>
          <p:cNvSpPr/>
          <p:nvPr/>
        </p:nvSpPr>
        <p:spPr>
          <a:xfrm>
            <a:off x="5806440" y="2057400"/>
            <a:ext cx="914" cy="10058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989320" y="2414016"/>
            <a:ext cx="82296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consumes</a:t>
            </a:r>
            <a:endParaRPr lang="en-US" sz="1100" dirty="0"/>
          </a:p>
        </p:txBody>
      </p:sp>
      <p:sp>
        <p:nvSpPr>
          <p:cNvPr id="45" name="node Debug Description spec"/>
          <p:cNvSpPr/>
          <p:nvPr/>
        </p:nvSpPr>
        <p:spPr>
          <a:xfrm>
            <a:off x="4526280" y="470916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4617720" y="4782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</a:rPr>
              <a:t>DOCSECTION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617720" y="498348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Debug Description spec</a:t>
            </a:r>
            <a:endParaRPr lang="en-US" sz="1200" dirty="0"/>
          </a:p>
        </p:txBody>
      </p:sp>
      <p:sp>
        <p:nvSpPr>
          <p:cNvPr id="48" name="edge references"/>
          <p:cNvSpPr/>
          <p:nvPr/>
        </p:nvSpPr>
        <p:spPr>
          <a:xfrm>
            <a:off x="5806440" y="4023360"/>
            <a:ext cx="914" cy="6858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5989320" y="4219956"/>
            <a:ext cx="9144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50" name="legend procedure"/>
          <p:cNvSpPr/>
          <p:nvPr/>
        </p:nvSpPr>
        <p:spPr>
          <a:xfrm>
            <a:off x="548640" y="5861304"/>
            <a:ext cx="292608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4400" y="5806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Procedure</a:t>
            </a:r>
            <a:endParaRPr lang="en-US" sz="1200" dirty="0"/>
          </a:p>
        </p:txBody>
      </p:sp>
      <p:sp>
        <p:nvSpPr>
          <p:cNvPr id="52" name="legend rule"/>
          <p:cNvSpPr/>
          <p:nvPr/>
        </p:nvSpPr>
        <p:spPr>
          <a:xfrm>
            <a:off x="2025396" y="5861304"/>
            <a:ext cx="292608" cy="18288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91156" y="5806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Rule</a:t>
            </a:r>
            <a:endParaRPr lang="en-US" sz="1200" dirty="0"/>
          </a:p>
        </p:txBody>
      </p:sp>
      <p:sp>
        <p:nvSpPr>
          <p:cNvPr id="54" name="legend concept"/>
          <p:cNvSpPr/>
          <p:nvPr/>
        </p:nvSpPr>
        <p:spPr>
          <a:xfrm>
            <a:off x="3113532" y="5861304"/>
            <a:ext cx="292608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79292" y="5806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Concept</a:t>
            </a:r>
            <a:endParaRPr lang="en-US" sz="1200" dirty="0"/>
          </a:p>
        </p:txBody>
      </p:sp>
      <p:sp>
        <p:nvSpPr>
          <p:cNvPr id="56" name="legend artifact"/>
          <p:cNvSpPr/>
          <p:nvPr/>
        </p:nvSpPr>
        <p:spPr>
          <a:xfrm>
            <a:off x="4434840" y="5861304"/>
            <a:ext cx="292608" cy="18288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00600" y="5806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Artifact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583680" y="580644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Real neighbourhood from cmsis-skills. Today it is prose in one SKILL.md.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4: one rule written once, refined per procedure</a:t>
            </a:r>
            <a:endParaRPr lang="en-US" sz="2800" dirty="0"/>
          </a:p>
        </p:txBody>
      </p:sp>
      <p:sp>
        <p:nvSpPr>
          <p:cNvPr id="3" name="node rule-no-fabrication"/>
          <p:cNvSpPr/>
          <p:nvPr/>
        </p:nvSpPr>
        <p:spPr>
          <a:xfrm>
            <a:off x="4267048" y="132588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358488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CANONICAL RULE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358488" y="1600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rule-no-fabrication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81048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Written once by a human. Appears in 23 of 24 skills today, each with its own wording.</a:t>
            </a:r>
            <a:endParaRPr lang="en-US" sz="1300" dirty="0"/>
          </a:p>
        </p:txBody>
      </p:sp>
      <p:sp>
        <p:nvSpPr>
          <p:cNvPr id="7" name="refine 0"/>
          <p:cNvSpPr/>
          <p:nvPr/>
        </p:nvSpPr>
        <p:spPr>
          <a:xfrm>
            <a:off x="548640" y="3291840"/>
            <a:ext cx="35204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fine head 0"/>
          <p:cNvSpPr/>
          <p:nvPr/>
        </p:nvSpPr>
        <p:spPr>
          <a:xfrm>
            <a:off x="777240" y="3520440"/>
            <a:ext cx="30632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generate-debug-sequences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Delta only: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“reset, unlock, authentication, boot, flash, processor-control, low-power ... behavior”</a:t>
            </a:r>
            <a:endParaRPr lang="en-US" sz="1300" dirty="0"/>
          </a:p>
        </p:txBody>
      </p:sp>
      <p:sp>
        <p:nvSpPr>
          <p:cNvPr id="12" name="edge "/>
          <p:cNvSpPr/>
          <p:nvPr/>
        </p:nvSpPr>
        <p:spPr>
          <a:xfrm flipV="1">
            <a:off x="2304288" y="2761488"/>
            <a:ext cx="2694280" cy="5303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refine 1"/>
          <p:cNvSpPr/>
          <p:nvPr/>
        </p:nvSpPr>
        <p:spPr>
          <a:xfrm>
            <a:off x="4297680" y="3291840"/>
            <a:ext cx="35204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fine head 1"/>
          <p:cNvSpPr/>
          <p:nvPr/>
        </p:nvSpPr>
        <p:spPr>
          <a:xfrm>
            <a:off x="4526280" y="3520440"/>
            <a:ext cx="30632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evaluate-ethos-u-variants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Delta only: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34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“Report only values read from Vela's summary CSV and console output.”</a:t>
            </a:r>
            <a:endParaRPr lang="en-US" sz="1300" dirty="0"/>
          </a:p>
        </p:txBody>
      </p:sp>
      <p:sp>
        <p:nvSpPr>
          <p:cNvPr id="18" name="edge refines"/>
          <p:cNvSpPr/>
          <p:nvPr/>
        </p:nvSpPr>
        <p:spPr>
          <a:xfrm flipV="1">
            <a:off x="6053328" y="2761488"/>
            <a:ext cx="42520" cy="5303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166028" y="2880360"/>
            <a:ext cx="73152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refines</a:t>
            </a:r>
            <a:endParaRPr lang="en-US" sz="1100" dirty="0"/>
          </a:p>
        </p:txBody>
      </p:sp>
      <p:sp>
        <p:nvSpPr>
          <p:cNvPr id="20" name="refine 2"/>
          <p:cNvSpPr/>
          <p:nvPr/>
        </p:nvSpPr>
        <p:spPr>
          <a:xfrm>
            <a:off x="8046720" y="3291840"/>
            <a:ext cx="35204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refine head 2"/>
          <p:cNvSpPr/>
          <p:nvPr/>
        </p:nvSpPr>
        <p:spPr>
          <a:xfrm>
            <a:off x="8275320" y="3520440"/>
            <a:ext cx="30632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add-cmsis-target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Delta only: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434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“board, device, pack, version, layer, connection, path ... or schema result”</a:t>
            </a:r>
            <a:endParaRPr lang="en-US" sz="1300" dirty="0"/>
          </a:p>
        </p:txBody>
      </p:sp>
      <p:sp>
        <p:nvSpPr>
          <p:cNvPr id="25" name="edge "/>
          <p:cNvSpPr/>
          <p:nvPr/>
        </p:nvSpPr>
        <p:spPr>
          <a:xfrm flipH="1" flipV="1">
            <a:off x="7193128" y="2761488"/>
            <a:ext cx="2609240" cy="5303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Delta texts are verbatim Stage 2 output from the real skills.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5: the project context decides what the agent sees</a:t>
            </a:r>
            <a:endParaRPr lang="en-US" sz="2800" dirty="0"/>
          </a:p>
        </p:txBody>
      </p:sp>
      <p:sp>
        <p:nvSpPr>
          <p:cNvPr id="3" name="node Stack sizing pattern"/>
          <p:cNvSpPr/>
          <p:nvPr/>
        </p:nvSpPr>
        <p:spPr>
          <a:xfrm>
            <a:off x="548640" y="1371600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44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PATTERN (GENERIC)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Stack sizing pattern</a:t>
            </a:r>
            <a:endParaRPr lang="en-US" sz="1400" dirty="0"/>
          </a:p>
        </p:txBody>
      </p:sp>
      <p:sp>
        <p:nvSpPr>
          <p:cNvPr id="6" name="node Stack sizing for Cortex-M55 + AC6"/>
          <p:cNvSpPr/>
          <p:nvPr/>
        </p:nvSpPr>
        <p:spPr>
          <a:xfrm>
            <a:off x="548640" y="3291840"/>
            <a:ext cx="301752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3364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6"/>
                </a:solidFill>
              </a:rPr>
              <a:t>PATTERN (SPECIFIC)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Stack sizing for Cortex-M55 + AC6</a:t>
            </a:r>
            <a:endParaRPr lang="en-US" sz="1300" dirty="0"/>
          </a:p>
        </p:txBody>
      </p:sp>
      <p:sp>
        <p:nvSpPr>
          <p:cNvPr id="9" name="edge refines"/>
          <p:cNvSpPr/>
          <p:nvPr/>
        </p:nvSpPr>
        <p:spPr>
          <a:xfrm flipV="1">
            <a:off x="2057400" y="2286000"/>
            <a:ext cx="914" cy="10058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217420" y="2642616"/>
            <a:ext cx="6858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refines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applies_to: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Cortex-M55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compiler: AC6 &gt;= 6.20</a:t>
            </a:r>
            <a:endParaRPr lang="en-US" sz="1200" dirty="0"/>
          </a:p>
        </p:txBody>
      </p:sp>
      <p:sp>
        <p:nvSpPr>
          <p:cNvPr id="12" name="project 0"/>
          <p:cNvSpPr/>
          <p:nvPr/>
        </p:nvSpPr>
        <p:spPr>
          <a:xfrm>
            <a:off x="4206240" y="1371600"/>
            <a:ext cx="743681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roject A badge"/>
          <p:cNvSpPr/>
          <p:nvPr/>
        </p:nvSpPr>
        <p:spPr>
          <a:xfrm>
            <a:off x="4434840" y="1645920"/>
            <a:ext cx="685800" cy="685800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14" name="Project A icon" descr="Project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290" y="1817370"/>
            <a:ext cx="342900" cy="3429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0352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Project 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cbuild.yml: Alif Ensemble, M55_HE core, AC6</a:t>
            </a:r>
            <a:endParaRPr lang="en-US" sz="1300" dirty="0"/>
          </a:p>
        </p:txBody>
      </p:sp>
      <p:sp>
        <p:nvSpPr>
          <p:cNvPr id="17" name="edge "/>
          <p:cNvSpPr/>
          <p:nvPr/>
        </p:nvSpPr>
        <p:spPr>
          <a:xfrm>
            <a:off x="8275320" y="2331720"/>
            <a:ext cx="45720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result 0"/>
          <p:cNvSpPr/>
          <p:nvPr/>
        </p:nvSpPr>
        <p:spPr>
          <a:xfrm>
            <a:off x="8778240" y="1783080"/>
            <a:ext cx="2636215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15400" y="1783080"/>
            <a:ext cx="2361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Gets the specific M55 unit</a:t>
            </a:r>
            <a:endParaRPr lang="en-US" sz="1500" dirty="0"/>
          </a:p>
        </p:txBody>
      </p:sp>
      <p:sp>
        <p:nvSpPr>
          <p:cNvPr id="20" name="project 1"/>
          <p:cNvSpPr/>
          <p:nvPr/>
        </p:nvSpPr>
        <p:spPr>
          <a:xfrm>
            <a:off x="4206240" y="3611880"/>
            <a:ext cx="743681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roject B badge"/>
          <p:cNvSpPr/>
          <p:nvPr/>
        </p:nvSpPr>
        <p:spPr>
          <a:xfrm>
            <a:off x="4434840" y="3886200"/>
            <a:ext cx="685800" cy="685800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22" name="Project B icon" descr="Project 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4057650"/>
            <a:ext cx="342900" cy="3429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30352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Project B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5303520" y="4251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cbuild.yml: STM32U585AIIx, Cortex-M33, GCC</a:t>
            </a:r>
            <a:endParaRPr lang="en-US" sz="1300" dirty="0"/>
          </a:p>
        </p:txBody>
      </p:sp>
      <p:sp>
        <p:nvSpPr>
          <p:cNvPr id="25" name="edge "/>
          <p:cNvSpPr/>
          <p:nvPr/>
        </p:nvSpPr>
        <p:spPr>
          <a:xfrm>
            <a:off x="8275320" y="4572000"/>
            <a:ext cx="45720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result 1"/>
          <p:cNvSpPr/>
          <p:nvPr/>
        </p:nvSpPr>
        <p:spPr>
          <a:xfrm>
            <a:off x="8778240" y="4023360"/>
            <a:ext cx="2636215" cy="1143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915400" y="4023360"/>
            <a:ext cx="2361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Gets the generic unit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Illustrative units (these two are test fixtures). Device to core resolution and the refines rule are real and covered by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agent uses it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Small answers first, full detail on demand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550 units to the one that matters</a:t>
            </a:r>
            <a:endParaRPr lang="en-US" sz="2800" dirty="0"/>
          </a:p>
        </p:txBody>
      </p:sp>
      <p:sp>
        <p:nvSpPr>
          <p:cNvPr id="3" name="funnel 0"/>
          <p:cNvSpPr/>
          <p:nvPr/>
        </p:nvSpPr>
        <p:spPr>
          <a:xfrm>
            <a:off x="929488" y="1280160"/>
            <a:ext cx="10332720" cy="804672"/>
          </a:xfrm>
          <a:prstGeom prst="roundRect">
            <a:avLst>
              <a:gd name="adj" fmla="val 1136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58088" y="128016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346808" y="1325880"/>
            <a:ext cx="8732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units in the index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all domains, all targets</a:t>
            </a:r>
            <a:endParaRPr lang="en-US" sz="1500" dirty="0"/>
          </a:p>
        </p:txBody>
      </p:sp>
      <p:sp>
        <p:nvSpPr>
          <p:cNvPr id="6" name="funnel 1"/>
          <p:cNvSpPr/>
          <p:nvPr/>
        </p:nvSpPr>
        <p:spPr>
          <a:xfrm>
            <a:off x="1798168" y="2221992"/>
            <a:ext cx="8595360" cy="804672"/>
          </a:xfrm>
          <a:prstGeom prst="roundRect">
            <a:avLst>
              <a:gd name="adj" fmla="val 11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26768" y="2221992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15488" y="2267712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by project context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device, components, compiler from cbuild.yml</a:t>
            </a:r>
            <a:endParaRPr lang="en-US" sz="1500" dirty="0"/>
          </a:p>
        </p:txBody>
      </p:sp>
      <p:sp>
        <p:nvSpPr>
          <p:cNvPr id="9" name="funnel 2"/>
          <p:cNvSpPr/>
          <p:nvPr/>
        </p:nvSpPr>
        <p:spPr>
          <a:xfrm>
            <a:off x="2666848" y="3163824"/>
            <a:ext cx="6858000" cy="804672"/>
          </a:xfrm>
          <a:prstGeom prst="roundRect">
            <a:avLst>
              <a:gd name="adj" fmla="val 113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5448" y="3163824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084168" y="3209544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keywords + meaning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BM25 and embeddings, exact error text wins</a:t>
            </a:r>
            <a:endParaRPr lang="en-US" sz="1500" dirty="0"/>
          </a:p>
        </p:txBody>
      </p:sp>
      <p:sp>
        <p:nvSpPr>
          <p:cNvPr id="12" name="funnel 3"/>
          <p:cNvSpPr/>
          <p:nvPr/>
        </p:nvSpPr>
        <p:spPr>
          <a:xfrm>
            <a:off x="3535528" y="4105656"/>
            <a:ext cx="5120640" cy="804672"/>
          </a:xfrm>
          <a:prstGeom prst="roundRect">
            <a:avLst>
              <a:gd name="adj" fmla="val 113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4128" y="4105656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~525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952848" y="415137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tokens returned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top 5 as id, title, summary</a:t>
            </a:r>
            <a:endParaRPr lang="en-US" sz="1500" dirty="0"/>
          </a:p>
        </p:txBody>
      </p:sp>
      <p:sp>
        <p:nvSpPr>
          <p:cNvPr id="15" name="funnel 4"/>
          <p:cNvSpPr/>
          <p:nvPr/>
        </p:nvSpPr>
        <p:spPr>
          <a:xfrm>
            <a:off x="3992728" y="5047488"/>
            <a:ext cx="4206240" cy="804672"/>
          </a:xfrm>
          <a:prstGeom prst="roundRect">
            <a:avLst>
              <a:gd name="adj" fmla="val 1136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21328" y="5047488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10048" y="509320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unit read in full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knowledge_get, never shortened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Measured on the prototype: 57 ms average per search, CPU only. Tokens estimated as characters / 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Walk-through: a developer pastes an error</a:t>
            </a:r>
            <a:endParaRPr lang="en-US" sz="2800" dirty="0"/>
          </a:p>
        </p:txBody>
      </p:sp>
      <p:sp>
        <p:nvSpPr>
          <p:cNvPr id="3" name="developer badge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4A5F66"/>
          </a:solidFill>
          <a:ln w="12700">
            <a:solidFill>
              <a:srgbClr val="4A5F66"/>
            </a:solidFill>
            <a:prstDash val="solid"/>
          </a:ln>
        </p:spPr>
      </p:sp>
      <p:pic>
        <p:nvPicPr>
          <p:cNvPr id="4" name="developer icon" descr="develo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320040" cy="320040"/>
          </a:xfrm>
          <a:prstGeom prst="rect">
            <a:avLst/>
          </a:prstGeom>
        </p:spPr>
      </p:pic>
      <p:sp>
        <p:nvSpPr>
          <p:cNvPr id="5" name="dev bubble"/>
          <p:cNvSpPr/>
          <p:nvPr/>
        </p:nvSpPr>
        <p:spPr>
          <a:xfrm>
            <a:off x="1371600" y="1280160"/>
            <a:ext cx="60350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csolution convert fails with: error csolution: board mounted device STM32U585AIIx not found. What now?</a:t>
            </a:r>
            <a:endParaRPr lang="en-US" sz="1400" dirty="0"/>
          </a:p>
        </p:txBody>
      </p:sp>
      <p:sp>
        <p:nvSpPr>
          <p:cNvPr id="7" name="agent badge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8" name="agent icon" descr="ag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583180"/>
            <a:ext cx="320040" cy="320040"/>
          </a:xfrm>
          <a:prstGeom prst="rect">
            <a:avLst/>
          </a:prstGeom>
        </p:spPr>
      </p:pic>
      <p:sp>
        <p:nvSpPr>
          <p:cNvPr id="9" name="call bubble"/>
          <p:cNvSpPr/>
          <p:nvPr/>
        </p:nvSpPr>
        <p:spPr>
          <a:xfrm>
            <a:off x="1371600" y="2331720"/>
            <a:ext cx="603504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645920" y="2468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knowledge_search(query = &lt;error text&gt;, cbuild = "app.cbuild.yml")</a:t>
            </a:r>
            <a:endParaRPr lang="en-US" sz="1400" dirty="0"/>
          </a:p>
        </p:txBody>
      </p:sp>
      <p:sp>
        <p:nvSpPr>
          <p:cNvPr id="11" name="results"/>
          <p:cNvSpPr/>
          <p:nvPr/>
        </p:nvSpPr>
        <p:spPr>
          <a:xfrm>
            <a:off x="1371600" y="3429000"/>
            <a:ext cx="60350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ank 0"/>
          <p:cNvSpPr/>
          <p:nvPr/>
        </p:nvSpPr>
        <p:spPr>
          <a:xfrm>
            <a:off x="1554480" y="3611880"/>
            <a:ext cx="164592" cy="310896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874520" y="3611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ts-csolution-board-mounted-device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36118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exact match</a:t>
            </a:r>
            <a:endParaRPr lang="en-US" sz="1100" dirty="0"/>
          </a:p>
        </p:txBody>
      </p:sp>
      <p:sp>
        <p:nvSpPr>
          <p:cNvPr id="15" name="rank 1"/>
          <p:cNvSpPr/>
          <p:nvPr/>
        </p:nvSpPr>
        <p:spPr>
          <a:xfrm>
            <a:off x="1554480" y="4069080"/>
            <a:ext cx="164592" cy="310896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874520" y="4069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ts-csolution-is-not-among-board-mounted-devices</a:t>
            </a:r>
            <a:endParaRPr lang="en-US" sz="1200" dirty="0"/>
          </a:p>
        </p:txBody>
      </p:sp>
      <p:sp>
        <p:nvSpPr>
          <p:cNvPr id="17" name="rank 2"/>
          <p:cNvSpPr/>
          <p:nvPr/>
        </p:nvSpPr>
        <p:spPr>
          <a:xfrm>
            <a:off x="1554480" y="4526280"/>
            <a:ext cx="164592" cy="310896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874520" y="4526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ts-packchk-m346</a:t>
            </a:r>
            <a:endParaRPr lang="en-US" sz="1200" dirty="0"/>
          </a:p>
        </p:txBody>
      </p:sp>
      <p:sp>
        <p:nvSpPr>
          <p:cNvPr id="19" name="rank 3"/>
          <p:cNvSpPr/>
          <p:nvPr/>
        </p:nvSpPr>
        <p:spPr>
          <a:xfrm>
            <a:off x="1554480" y="4983480"/>
            <a:ext cx="164592" cy="310896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874520" y="49834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ts-csolution-found-no-mounted-device</a:t>
            </a:r>
            <a:endParaRPr lang="en-US" sz="1200" dirty="0"/>
          </a:p>
        </p:txBody>
      </p:sp>
      <p:sp>
        <p:nvSpPr>
          <p:cNvPr id="21" name="step 0"/>
          <p:cNvSpPr/>
          <p:nvPr/>
        </p:nvSpPr>
        <p:spPr>
          <a:xfrm>
            <a:off x="781812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18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54964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8549640" y="1783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Device, components and compiler come from cbuild.yml.</a:t>
            </a:r>
            <a:endParaRPr lang="en-US" sz="1400" dirty="0"/>
          </a:p>
        </p:txBody>
      </p:sp>
      <p:sp>
        <p:nvSpPr>
          <p:cNvPr id="25" name="step 1"/>
          <p:cNvSpPr/>
          <p:nvPr/>
        </p:nvSpPr>
        <p:spPr>
          <a:xfrm>
            <a:off x="7818120" y="2788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8181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5496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Match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549640" y="3246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error text hits the troubleshooting unit directly.</a:t>
            </a:r>
            <a:endParaRPr lang="en-US" sz="1400" dirty="0"/>
          </a:p>
        </p:txBody>
      </p:sp>
      <p:sp>
        <p:nvSpPr>
          <p:cNvPr id="29" name="step 2"/>
          <p:cNvSpPr/>
          <p:nvPr/>
        </p:nvSpPr>
        <p:spPr>
          <a:xfrm>
            <a:off x="78181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8181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854964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8549640" y="47091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agent calls knowledge_get for that one unit and answers with cause and fix.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Error reproduced with CMSIS-Toolbox 2.12.0 (B-U585I-IOT02A board, STM32U5 DFP not loaded). Ranking is real prototype output.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working prototype, a pilot to pick, owners to name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a day against live sources</a:t>
            </a:r>
            <a:endParaRPr lang="en-US" sz="2800" dirty="0"/>
          </a:p>
        </p:txBody>
      </p:sp>
      <p:sp>
        <p:nvSpPr>
          <p:cNvPr id="3" name="stat 0"/>
          <p:cNvSpPr/>
          <p:nvPr/>
        </p:nvSpPr>
        <p:spPr>
          <a:xfrm>
            <a:off x="548640" y="1371600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ntities badge"/>
          <p:cNvSpPr/>
          <p:nvPr/>
        </p:nvSpPr>
        <p:spPr>
          <a:xfrm>
            <a:off x="1417320" y="1691640"/>
            <a:ext cx="868680" cy="868680"/>
          </a:xfrm>
          <a:prstGeom prst="ellipse">
            <a:avLst/>
          </a:prstGeom>
          <a:solidFill>
            <a:srgbClr val="2F4F5A"/>
          </a:solidFill>
          <a:ln w="12700">
            <a:solidFill>
              <a:srgbClr val="2F4F5A"/>
            </a:solidFill>
            <a:prstDash val="solid"/>
          </a:ln>
        </p:spPr>
      </p:sp>
      <p:pic>
        <p:nvPicPr>
          <p:cNvPr id="5" name="entities icon" descr="ent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19088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743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26,903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entities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1,485 PDSC files</a:t>
            </a:r>
            <a:endParaRPr lang="en-US" sz="1300" dirty="0"/>
          </a:p>
        </p:txBody>
      </p:sp>
      <p:sp>
        <p:nvSpPr>
          <p:cNvPr id="9" name="stat 1"/>
          <p:cNvSpPr/>
          <p:nvPr/>
        </p:nvSpPr>
        <p:spPr>
          <a:xfrm>
            <a:off x="3355848" y="1371600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nowledge units badge"/>
          <p:cNvSpPr/>
          <p:nvPr/>
        </p:nvSpPr>
        <p:spPr>
          <a:xfrm>
            <a:off x="4224528" y="1691640"/>
            <a:ext cx="868680" cy="86868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11" name="knowledge units icon" descr="knowledge uni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698" y="19088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3008" y="2743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knowledge units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24 procedures, 120 rules, 397 error units</a:t>
            </a:r>
            <a:endParaRPr lang="en-US" sz="1300" dirty="0"/>
          </a:p>
        </p:txBody>
      </p:sp>
      <p:sp>
        <p:nvSpPr>
          <p:cNvPr id="15" name="stat 2"/>
          <p:cNvSpPr/>
          <p:nvPr/>
        </p:nvSpPr>
        <p:spPr>
          <a:xfrm>
            <a:off x="6163056" y="1371600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CP tools badge"/>
          <p:cNvSpPr/>
          <p:nvPr/>
        </p:nvSpPr>
        <p:spPr>
          <a:xfrm>
            <a:off x="7031736" y="1691640"/>
            <a:ext cx="868680" cy="868680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17" name="MCP tools icon" descr="MCP 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06" y="19088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0216" y="2743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6300216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MCP tools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search, get, expand</a:t>
            </a:r>
            <a:endParaRPr lang="en-US" sz="1300" dirty="0"/>
          </a:p>
        </p:txBody>
      </p:sp>
      <p:sp>
        <p:nvSpPr>
          <p:cNvPr id="21" name="stat 3"/>
          <p:cNvSpPr/>
          <p:nvPr/>
        </p:nvSpPr>
        <p:spPr>
          <a:xfrm>
            <a:off x="8970264" y="1371600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sts pass badge"/>
          <p:cNvSpPr/>
          <p:nvPr/>
        </p:nvSpPr>
        <p:spPr>
          <a:xfrm>
            <a:off x="9838944" y="1691640"/>
            <a:ext cx="868680" cy="868680"/>
          </a:xfrm>
          <a:prstGeom prst="ellipse">
            <a:avLst/>
          </a:prstGeom>
          <a:solidFill>
            <a:srgbClr val="9E3D5E"/>
          </a:solidFill>
          <a:ln w="12700">
            <a:solidFill>
              <a:srgbClr val="9E3D5E"/>
            </a:solidFill>
            <a:prstDash val="solid"/>
          </a:ln>
        </p:spPr>
      </p:sp>
      <p:pic>
        <p:nvPicPr>
          <p:cNvPr id="23" name="tests pass icon" descr="tests p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114" y="1908810"/>
            <a:ext cx="434340" cy="4343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07424" y="2743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4000" dirty="0"/>
          </a:p>
        </p:txBody>
      </p:sp>
      <p:sp>
        <p:nvSpPr>
          <p:cNvPr id="25" name="Text 19"/>
          <p:cNvSpPr txBox="1"/>
          <p:nvPr/>
        </p:nvSpPr>
        <p:spPr>
          <a:xfrm>
            <a:off x="9107424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tests pass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19886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stale check, context filter, MCP round trip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Prototype on 4 Oct 2026. All units are drafts until reviewed.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write next: domains Pack Docs don't cover</a:t>
            </a:r>
            <a:endParaRPr lang="en-US" sz="2800" dirty="0"/>
          </a:p>
        </p:txBody>
      </p:sp>
      <p:sp>
        <p:nvSpPr>
          <p:cNvPr id="3" name="prio 0"/>
          <p:cNvSpPr/>
          <p:nvPr/>
        </p:nvSpPr>
        <p:spPr>
          <a:xfrm>
            <a:off x="548640" y="1325880"/>
            <a:ext cx="352044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Priority 1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Not in Pack Docs at all</a:t>
            </a:r>
            <a:endParaRPr lang="en-US" sz="1600" dirty="0"/>
          </a:p>
        </p:txBody>
      </p:sp>
      <p:sp>
        <p:nvSpPr>
          <p:cNvPr id="5" name="dom RTOS kernel"/>
          <p:cNvSpPr/>
          <p:nvPr/>
        </p:nvSpPr>
        <p:spPr>
          <a:xfrm>
            <a:off x="548640" y="2377440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RTOS kernel badge"/>
          <p:cNvSpPr/>
          <p:nvPr/>
        </p:nvSpPr>
        <p:spPr>
          <a:xfrm>
            <a:off x="685800" y="2478024"/>
            <a:ext cx="512064" cy="512064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7" name="RTOS kernel icon" descr="RTOS ker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6060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RTOS kernel</a:t>
            </a:r>
            <a:endParaRPr lang="en-US" sz="1500" dirty="0"/>
          </a:p>
        </p:txBody>
      </p:sp>
      <p:sp>
        <p:nvSpPr>
          <p:cNvPr id="9" name="dom Error catalog"/>
          <p:cNvSpPr/>
          <p:nvPr/>
        </p:nvSpPr>
        <p:spPr>
          <a:xfrm>
            <a:off x="548640" y="3218688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rror catalog badge"/>
          <p:cNvSpPr/>
          <p:nvPr/>
        </p:nvSpPr>
        <p:spPr>
          <a:xfrm>
            <a:off x="685800" y="3319272"/>
            <a:ext cx="512064" cy="512064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11" name="Error catalog icon" descr="Error cata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4472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21868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 catalog</a:t>
            </a:r>
            <a:endParaRPr lang="en-US" sz="1500" dirty="0"/>
          </a:p>
        </p:txBody>
      </p:sp>
      <p:sp>
        <p:nvSpPr>
          <p:cNvPr id="13" name="dom Memory and linker"/>
          <p:cNvSpPr/>
          <p:nvPr/>
        </p:nvSpPr>
        <p:spPr>
          <a:xfrm>
            <a:off x="548640" y="4059936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emory and linker badge"/>
          <p:cNvSpPr/>
          <p:nvPr/>
        </p:nvSpPr>
        <p:spPr>
          <a:xfrm>
            <a:off x="685800" y="4160520"/>
            <a:ext cx="512064" cy="512064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15" name="Memory and linker icon" descr="Memory and lin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2885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405993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Memory and linker</a:t>
            </a:r>
            <a:endParaRPr lang="en-US" sz="1500" dirty="0"/>
          </a:p>
        </p:txBody>
      </p:sp>
      <p:sp>
        <p:nvSpPr>
          <p:cNvPr id="17" name="dom Fault analysis"/>
          <p:cNvSpPr/>
          <p:nvPr/>
        </p:nvSpPr>
        <p:spPr>
          <a:xfrm>
            <a:off x="548640" y="4901184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Fault analysis badge"/>
          <p:cNvSpPr/>
          <p:nvPr/>
        </p:nvSpPr>
        <p:spPr>
          <a:xfrm>
            <a:off x="685800" y="5001768"/>
            <a:ext cx="512064" cy="512064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19" name="Fault analysis icon" descr="Fault analys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12978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490118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Fault analysis</a:t>
            </a:r>
            <a:endParaRPr lang="en-US" sz="1500" dirty="0"/>
          </a:p>
        </p:txBody>
      </p:sp>
      <p:sp>
        <p:nvSpPr>
          <p:cNvPr id="21" name="prio 1"/>
          <p:cNvSpPr/>
          <p:nvPr/>
        </p:nvSpPr>
        <p:spPr>
          <a:xfrm>
            <a:off x="4297680" y="1325880"/>
            <a:ext cx="35204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2628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Priority 2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Requested by the team</a:t>
            </a:r>
            <a:endParaRPr lang="en-US" sz="1600" dirty="0"/>
          </a:p>
        </p:txBody>
      </p:sp>
      <p:sp>
        <p:nvSpPr>
          <p:cNvPr id="23" name="dom Optimization"/>
          <p:cNvSpPr/>
          <p:nvPr/>
        </p:nvSpPr>
        <p:spPr>
          <a:xfrm>
            <a:off x="4297680" y="2377440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Optimization badge"/>
          <p:cNvSpPr/>
          <p:nvPr/>
        </p:nvSpPr>
        <p:spPr>
          <a:xfrm>
            <a:off x="4434840" y="2478024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25" name="Optimization icon" descr="Optimiz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260604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20640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Optimization</a:t>
            </a:r>
            <a:endParaRPr lang="en-US" sz="1500" dirty="0"/>
          </a:p>
        </p:txBody>
      </p:sp>
      <p:sp>
        <p:nvSpPr>
          <p:cNvPr id="27" name="dom Test"/>
          <p:cNvSpPr/>
          <p:nvPr/>
        </p:nvSpPr>
        <p:spPr>
          <a:xfrm>
            <a:off x="4297680" y="3218688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st badge"/>
          <p:cNvSpPr/>
          <p:nvPr/>
        </p:nvSpPr>
        <p:spPr>
          <a:xfrm>
            <a:off x="4434840" y="3319272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29" name="Test icon" descr="Te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344728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20640" y="321868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</a:t>
            </a:r>
            <a:endParaRPr lang="en-US" sz="1500" dirty="0"/>
          </a:p>
        </p:txBody>
      </p:sp>
      <p:sp>
        <p:nvSpPr>
          <p:cNvPr id="31" name="dom Project management"/>
          <p:cNvSpPr/>
          <p:nvPr/>
        </p:nvSpPr>
        <p:spPr>
          <a:xfrm>
            <a:off x="4297680" y="4059936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Project management badge"/>
          <p:cNvSpPr/>
          <p:nvPr/>
        </p:nvSpPr>
        <p:spPr>
          <a:xfrm>
            <a:off x="4434840" y="4160520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33" name="Project management icon" descr="Project manageme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4288536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120640" y="405993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management</a:t>
            </a:r>
            <a:endParaRPr lang="en-US" sz="1500" dirty="0"/>
          </a:p>
        </p:txBody>
      </p:sp>
      <p:sp>
        <p:nvSpPr>
          <p:cNvPr id="35" name="prio 2"/>
          <p:cNvSpPr/>
          <p:nvPr/>
        </p:nvSpPr>
        <p:spPr>
          <a:xfrm>
            <a:off x="8046720" y="1325880"/>
            <a:ext cx="35204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827532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Priority 3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Complementary, selection</a:t>
            </a:r>
            <a:endParaRPr lang="en-US" sz="1600" dirty="0"/>
          </a:p>
        </p:txBody>
      </p:sp>
      <p:sp>
        <p:nvSpPr>
          <p:cNvPr id="37" name="dom Boot and update"/>
          <p:cNvSpPr/>
          <p:nvPr/>
        </p:nvSpPr>
        <p:spPr>
          <a:xfrm>
            <a:off x="8046720" y="2377440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Boot and update badge"/>
          <p:cNvSpPr/>
          <p:nvPr/>
        </p:nvSpPr>
        <p:spPr>
          <a:xfrm>
            <a:off x="8183880" y="2478024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39" name="Boot and update icon" descr="Boot and upda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2606040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869680" y="2377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Boot and update</a:t>
            </a:r>
            <a:endParaRPr lang="en-US" sz="1500" dirty="0"/>
          </a:p>
        </p:txBody>
      </p:sp>
      <p:sp>
        <p:nvSpPr>
          <p:cNvPr id="41" name="dom Security and CRA"/>
          <p:cNvSpPr/>
          <p:nvPr/>
        </p:nvSpPr>
        <p:spPr>
          <a:xfrm>
            <a:off x="8046720" y="3218688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Security and CRA badge"/>
          <p:cNvSpPr/>
          <p:nvPr/>
        </p:nvSpPr>
        <p:spPr>
          <a:xfrm>
            <a:off x="8183880" y="3319272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43" name="Security and CRA icon" descr="Security and CR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1896" y="3447288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869680" y="321868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Security and CRA</a:t>
            </a:r>
            <a:endParaRPr lang="en-US" sz="1500" dirty="0"/>
          </a:p>
        </p:txBody>
      </p:sp>
      <p:sp>
        <p:nvSpPr>
          <p:cNvPr id="45" name="dom Edge AI"/>
          <p:cNvSpPr/>
          <p:nvPr/>
        </p:nvSpPr>
        <p:spPr>
          <a:xfrm>
            <a:off x="8046720" y="4059936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Edge AI badge"/>
          <p:cNvSpPr/>
          <p:nvPr/>
        </p:nvSpPr>
        <p:spPr>
          <a:xfrm>
            <a:off x="8183880" y="4160520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47" name="Edge AI icon" descr="Edge A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1896" y="4288536"/>
            <a:ext cx="256032" cy="256032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869680" y="405993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Edge AI</a:t>
            </a:r>
            <a:endParaRPr lang="en-US" sz="1500" dirty="0"/>
          </a:p>
        </p:txBody>
      </p:sp>
      <p:sp>
        <p:nvSpPr>
          <p:cNvPr id="49" name="dom Trace and profiling"/>
          <p:cNvSpPr/>
          <p:nvPr/>
        </p:nvSpPr>
        <p:spPr>
          <a:xfrm>
            <a:off x="8046720" y="4901184"/>
            <a:ext cx="35204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race and profiling badge"/>
          <p:cNvSpPr/>
          <p:nvPr/>
        </p:nvSpPr>
        <p:spPr>
          <a:xfrm>
            <a:off x="8183880" y="5001768"/>
            <a:ext cx="512064" cy="512064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51" name="Trace and profiling icon" descr="Trace and profili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1896" y="5129784"/>
            <a:ext cx="256032" cy="25603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8869680" y="490118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Trace and profiling</a:t>
            </a:r>
            <a:endParaRPr lang="en-US" sz="1500" dirty="0"/>
          </a:p>
        </p:txBody>
      </p:sp>
      <p:sp>
        <p:nvSpPr>
          <p:cNvPr id="53" name="Text 40"/>
          <p:cNvSpPr txBox="1"/>
          <p:nvPr/>
        </p:nvSpPr>
        <p:spPr>
          <a:xfrm>
            <a:off x="548640" y="5852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Full map in 03_wissensdomaenen.md. 140 sources mapped with license mode in 04_quellenliste.md.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steps. Skills retire only after a parallel run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1341098" y="2240280"/>
            <a:ext cx="9509499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milestone 0"/>
          <p:cNvSpPr/>
          <p:nvPr/>
        </p:nvSpPr>
        <p:spPr>
          <a:xfrm>
            <a:off x="929618" y="1828800"/>
            <a:ext cx="822960" cy="8229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9618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Inventory</a:t>
            </a:r>
            <a:endParaRPr lang="en-US" sz="1500" dirty="0"/>
          </a:p>
        </p:txBody>
      </p:sp>
      <p:sp>
        <p:nvSpPr>
          <p:cNvPr id="7" name="milestone 1"/>
          <p:cNvSpPr/>
          <p:nvPr/>
        </p:nvSpPr>
        <p:spPr>
          <a:xfrm>
            <a:off x="2514535" y="1828800"/>
            <a:ext cx="822960" cy="8229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535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79276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Entity graph</a:t>
            </a:r>
            <a:endParaRPr lang="en-US" sz="1500" dirty="0"/>
          </a:p>
        </p:txBody>
      </p:sp>
      <p:sp>
        <p:nvSpPr>
          <p:cNvPr id="10" name="milestone 2"/>
          <p:cNvSpPr/>
          <p:nvPr/>
        </p:nvSpPr>
        <p:spPr>
          <a:xfrm>
            <a:off x="4099451" y="1828800"/>
            <a:ext cx="822960" cy="8229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99451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4193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Decompose skills</a:t>
            </a:r>
            <a:endParaRPr lang="en-US" sz="1500" dirty="0"/>
          </a:p>
        </p:txBody>
      </p:sp>
      <p:sp>
        <p:nvSpPr>
          <p:cNvPr id="13" name="milestone 3"/>
          <p:cNvSpPr/>
          <p:nvPr/>
        </p:nvSpPr>
        <p:spPr>
          <a:xfrm>
            <a:off x="5684368" y="1828800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84368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349109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Pilot domain</a:t>
            </a:r>
            <a:endParaRPr lang="en-US" sz="1500" dirty="0"/>
          </a:p>
        </p:txBody>
      </p:sp>
      <p:sp>
        <p:nvSpPr>
          <p:cNvPr id="16" name="milestone 4"/>
          <p:cNvSpPr/>
          <p:nvPr/>
        </p:nvSpPr>
        <p:spPr>
          <a:xfrm>
            <a:off x="7269284" y="1828800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284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934026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Parallel run</a:t>
            </a:r>
            <a:endParaRPr lang="en-US" sz="1500" dirty="0"/>
          </a:p>
        </p:txBody>
      </p:sp>
      <p:sp>
        <p:nvSpPr>
          <p:cNvPr id="19" name="milestone 5"/>
          <p:cNvSpPr/>
          <p:nvPr/>
        </p:nvSpPr>
        <p:spPr>
          <a:xfrm>
            <a:off x="8854201" y="1828800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54201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518942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Retire skills</a:t>
            </a:r>
            <a:endParaRPr lang="en-US" sz="1500" dirty="0"/>
          </a:p>
        </p:txBody>
      </p:sp>
      <p:sp>
        <p:nvSpPr>
          <p:cNvPr id="22" name="milestone 6"/>
          <p:cNvSpPr/>
          <p:nvPr/>
        </p:nvSpPr>
        <p:spPr>
          <a:xfrm>
            <a:off x="10439117" y="1828800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39117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0103859" y="2788920"/>
            <a:ext cx="1493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Operate</a:t>
            </a:r>
            <a:endParaRPr lang="en-US" sz="1500" dirty="0"/>
          </a:p>
        </p:txBody>
      </p:sp>
      <p:sp>
        <p:nvSpPr>
          <p:cNvPr id="25" name="done"/>
          <p:cNvSpPr/>
          <p:nvPr/>
        </p:nvSpPr>
        <p:spPr>
          <a:xfrm>
            <a:off x="548640" y="3749040"/>
            <a:ext cx="53949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931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Prototype exists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Steps 1 to 3 run end to end. Still open: Stage 2 for 20 procedures and human review.</a:t>
            </a:r>
            <a:endParaRPr lang="en-US" sz="1500" dirty="0"/>
          </a:p>
        </p:txBody>
      </p:sp>
      <p:sp>
        <p:nvSpPr>
          <p:cNvPr id="27" name="next"/>
          <p:cNvSpPr/>
          <p:nvPr/>
        </p:nvSpPr>
        <p:spPr>
          <a:xfrm>
            <a:off x="6217920" y="3749040"/>
            <a:ext cx="5425135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931920"/>
            <a:ext cx="48764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Starts with today's decisions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Pilot domain with golden set, then a feature flag next to the skills in the CDA.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decide</a:t>
            </a:r>
            <a:endParaRPr lang="en-US" sz="2800" dirty="0"/>
          </a:p>
        </p:txBody>
      </p:sp>
      <p:sp>
        <p:nvSpPr>
          <p:cNvPr id="3" name="decision 0"/>
          <p:cNvSpPr/>
          <p:nvPr/>
        </p:nvSpPr>
        <p:spPr>
          <a:xfrm>
            <a:off x="548640" y="13258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ilot domain badg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C8692E"/>
          </a:solidFill>
          <a:ln w="12700">
            <a:solidFill>
              <a:srgbClr val="C8692E"/>
            </a:solidFill>
            <a:prstDash val="solid"/>
          </a:ln>
        </p:spPr>
      </p:sp>
      <p:pic>
        <p:nvPicPr>
          <p:cNvPr id="5" name="Pilot domain icon" descr="Pilot dom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Pilot domain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Recommendation: error catalog. Easy to fill and to measure.</a:t>
            </a:r>
            <a:endParaRPr lang="en-US" sz="1400" dirty="0"/>
          </a:p>
        </p:txBody>
      </p:sp>
      <p:sp>
        <p:nvSpPr>
          <p:cNvPr id="8" name="decision 1"/>
          <p:cNvSpPr/>
          <p:nvPr/>
        </p:nvSpPr>
        <p:spPr>
          <a:xfrm>
            <a:off x="4297680" y="13258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ck Docs interface badge"/>
          <p:cNvSpPr/>
          <p:nvPr/>
        </p:nvSpPr>
        <p:spPr>
          <a:xfrm>
            <a:off x="4572000" y="1600200"/>
            <a:ext cx="685800" cy="68580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10" name="Pack Docs interface icon" descr="Pack Docs inter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7716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600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Pack Docs interface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the KB and the existing Pack Docs system share context.</a:t>
            </a:r>
            <a:endParaRPr lang="en-US" sz="1400" dirty="0"/>
          </a:p>
        </p:txBody>
      </p:sp>
      <p:sp>
        <p:nvSpPr>
          <p:cNvPr id="13" name="decision 2"/>
          <p:cNvSpPr/>
          <p:nvPr/>
        </p:nvSpPr>
        <p:spPr>
          <a:xfrm>
            <a:off x="8046720" y="13258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nonical rules badge"/>
          <p:cNvSpPr/>
          <p:nvPr/>
        </p:nvSpPr>
        <p:spPr>
          <a:xfrm>
            <a:off x="8321040" y="1600200"/>
            <a:ext cx="685800" cy="68580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15" name="Canonical rules icon" descr="Canonical ru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7716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89720" y="1600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Canonical rules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Approve five proposed rules, name who writes them.</a:t>
            </a:r>
            <a:endParaRPr lang="en-US" sz="1400" dirty="0"/>
          </a:p>
        </p:txBody>
      </p:sp>
      <p:sp>
        <p:nvSpPr>
          <p:cNvPr id="18" name="decision 3"/>
          <p:cNvSpPr/>
          <p:nvPr/>
        </p:nvSpPr>
        <p:spPr>
          <a:xfrm>
            <a:off x="548640" y="36118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PU entities badge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20" name="NPU entities icon" descr="NPU entiti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05765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3886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NPU entities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Ethos-U as a target type for Edge AI units.</a:t>
            </a:r>
            <a:endParaRPr lang="en-US" sz="1400" dirty="0"/>
          </a:p>
        </p:txBody>
      </p:sp>
      <p:sp>
        <p:nvSpPr>
          <p:cNvPr id="23" name="decision 4"/>
          <p:cNvSpPr/>
          <p:nvPr/>
        </p:nvSpPr>
        <p:spPr>
          <a:xfrm>
            <a:off x="4297680" y="36118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egal review badge"/>
          <p:cNvSpPr/>
          <p:nvPr/>
        </p:nvSpPr>
        <p:spPr>
          <a:xfrm>
            <a:off x="4572000" y="3886200"/>
            <a:ext cx="685800" cy="68580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25" name="Legal review icon" descr="Legal revie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05765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0680" y="3886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Legal review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Keil KB export, Arm compiler guides, Learning Paths (CC BY-SA).</a:t>
            </a:r>
            <a:endParaRPr lang="en-US" sz="1400" dirty="0"/>
          </a:p>
        </p:txBody>
      </p:sp>
      <p:sp>
        <p:nvSpPr>
          <p:cNvPr id="28" name="decision 5"/>
          <p:cNvSpPr/>
          <p:nvPr/>
        </p:nvSpPr>
        <p:spPr>
          <a:xfrm>
            <a:off x="8046720" y="3611880"/>
            <a:ext cx="352044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omain owners badge"/>
          <p:cNvSpPr/>
          <p:nvPr/>
        </p:nvSpPr>
        <p:spPr>
          <a:xfrm>
            <a:off x="8321040" y="3886200"/>
            <a:ext cx="685800" cy="685800"/>
          </a:xfrm>
          <a:prstGeom prst="ellipse">
            <a:avLst/>
          </a:prstGeom>
          <a:solidFill>
            <a:srgbClr val="137C80"/>
          </a:solidFill>
          <a:ln w="12700">
            <a:solidFill>
              <a:srgbClr val="137C80"/>
            </a:solidFill>
            <a:prstDash val="solid"/>
          </a:ln>
        </p:spPr>
      </p:sp>
      <p:pic>
        <p:nvPicPr>
          <p:cNvPr id="30" name="Domain owners icon" descr="Domain own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05765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89720" y="3886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Domain owners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maintainer per domain, reviews routed by 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Owners and dates set in this meeting</a:t>
            </a:r>
            <a:endParaRPr lang="en-US" sz="2000" dirty="0"/>
          </a:p>
        </p:txBody>
      </p:sp>
      <p:sp>
        <p:nvSpPr>
          <p:cNvPr id="4" name="next 0"/>
          <p:cNvSpPr/>
          <p:nvPr/>
        </p:nvSpPr>
        <p:spPr>
          <a:xfrm>
            <a:off x="548640" y="45720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Stage 2 refinement for the remaining 20 procedures, then review</a:t>
            </a:r>
            <a:endParaRPr lang="en-US" sz="1600" dirty="0"/>
          </a:p>
        </p:txBody>
      </p:sp>
      <p:sp>
        <p:nvSpPr>
          <p:cNvPr id="7" name="next 1"/>
          <p:cNvSpPr/>
          <p:nvPr/>
        </p:nvSpPr>
        <p:spPr>
          <a:xfrm>
            <a:off x="548640" y="50292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109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Write cause and fix for the 134 csolution errors, based on resolved GitHub issues</a:t>
            </a:r>
            <a:endParaRPr lang="en-US" sz="1600" dirty="0"/>
          </a:p>
        </p:txBody>
      </p:sp>
      <p:sp>
        <p:nvSpPr>
          <p:cNvPr id="10" name="next 2"/>
          <p:cNvSpPr/>
          <p:nvPr/>
        </p:nvSpPr>
        <p:spPr>
          <a:xfrm>
            <a:off x="548640" y="54864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468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Golden set for the pilot, measured against today's skills</a:t>
            </a:r>
            <a:endParaRPr lang="en-US" sz="1600" dirty="0"/>
          </a:p>
        </p:txBody>
      </p:sp>
      <p:sp>
        <p:nvSpPr>
          <p:cNvPr id="13" name="next 3"/>
          <p:cNvSpPr/>
          <p:nvPr/>
        </p:nvSpPr>
        <p:spPr>
          <a:xfrm>
            <a:off x="548640" y="5943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943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925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knowledge.db in the CDA behind a feature flag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hood: one SQLite file</a:t>
            </a:r>
            <a:endParaRPr lang="en-US" sz="2600" dirty="0"/>
          </a:p>
        </p:txBody>
      </p:sp>
      <p:sp>
        <p:nvSpPr>
          <p:cNvPr id="3" name="table 0"/>
          <p:cNvSpPr/>
          <p:nvPr/>
        </p:nvSpPr>
        <p:spPr>
          <a:xfrm>
            <a:off x="548640" y="13258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3258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kind, type, domain, title, summary, body, meta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325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entity and unit</a:t>
            </a:r>
            <a:endParaRPr lang="en-US" sz="1400" dirty="0"/>
          </a:p>
        </p:txBody>
      </p:sp>
      <p:sp>
        <p:nvSpPr>
          <p:cNvPr id="7" name="table 1"/>
          <p:cNvSpPr/>
          <p:nvPr/>
        </p:nvSpPr>
        <p:spPr>
          <a:xfrm>
            <a:off x="548640" y="22402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402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src, rel, dst, qual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graph, version ranges in qual</a:t>
            </a:r>
            <a:endParaRPr lang="en-US" sz="1400" dirty="0"/>
          </a:p>
        </p:txBody>
      </p:sp>
      <p:sp>
        <p:nvSpPr>
          <p:cNvPr id="11" name="table 2"/>
          <p:cNvSpPr/>
          <p:nvPr/>
        </p:nvSpPr>
        <p:spPr>
          <a:xfrm>
            <a:off x="548640" y="31546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nodes_fts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1546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FTS5 over title, summary, body, symptoms, triggers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154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keyword search, exact errors</a:t>
            </a:r>
            <a:endParaRPr lang="en-US" sz="1400" dirty="0"/>
          </a:p>
        </p:txBody>
      </p:sp>
      <p:sp>
        <p:nvSpPr>
          <p:cNvPr id="15" name="table 3"/>
          <p:cNvSpPr/>
          <p:nvPr/>
        </p:nvSpPr>
        <p:spPr>
          <a:xfrm>
            <a:off x="548640" y="40690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nodes_vec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069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sqlite-vec, 384 dim (bge-small)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69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search by meaning</a:t>
            </a:r>
            <a:endParaRPr lang="en-US" sz="1400" dirty="0"/>
          </a:p>
        </p:txBody>
      </p:sp>
      <p:sp>
        <p:nvSpPr>
          <p:cNvPr id="19" name="table 4"/>
          <p:cNvSpPr/>
          <p:nvPr/>
        </p:nvSpPr>
        <p:spPr>
          <a:xfrm>
            <a:off x="548640" y="498348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83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unresolved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4983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src, key, value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983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stale applies_to, fails CI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26 MB with all 26,903 entities. Full rebuild about 3 minutes on CPU.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graph by type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ntity notes"/>
          <p:cNvSpPr/>
          <p:nvPr/>
        </p:nvSpPr>
        <p:spPr>
          <a:xfrm>
            <a:off x="8229600" y="1371600"/>
            <a:ext cx="3413455" cy="4572000"/>
          </a:xfrm>
          <a:prstGeom prst="roundRect">
            <a:avLst>
              <a:gd name="adj" fmla="val 267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58200" y="160020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component ID ships in many DFPs, so device or family is the better applies_to target.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NPUs have no entity yet.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vendor PDSC files are not valid XML.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catalog pilot: where the work is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rr notes"/>
          <p:cNvSpPr/>
          <p:nvPr/>
        </p:nvSpPr>
        <p:spPr>
          <a:xfrm>
            <a:off x="7315200" y="1371600"/>
            <a:ext cx="4327855" cy="4572000"/>
          </a:xfrm>
          <a:prstGeom prst="roundRect">
            <a:avLst>
              <a:gd name="adj" fmla="val 21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43800" y="160020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packchk and svdconv READMEs document 214 messages (Apache-2.0).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csolution: 134 messages, no docs. Cause and fix get written from resolved GitHub issues.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M302 exists in packchk and svdconv. Tool context disambiguates.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licensing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4937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rc notes"/>
          <p:cNvSpPr/>
          <p:nvPr/>
        </p:nvSpPr>
        <p:spPr>
          <a:xfrm>
            <a:off x="5943600" y="1371600"/>
            <a:ext cx="5699455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60020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140 sources, rules we work by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unit traces to a listed source or a named author.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 licenses indexed in full. Arm documents start at 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Learning Paths text is CC BY-SA 4.0: kept apart from the Apache-2.0 pack.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Standards like MISRA only by rule number.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SIS KB">
  <a:themeElements>
    <a:clrScheme name="CMSIS KB">
      <a:dk1>
        <a:srgbClr val="0F2A33"/>
      </a:dk1>
      <a:lt1>
        <a:srgbClr val="FFFFFF"/>
      </a:lt1>
      <a:dk2>
        <a:srgbClr val="4A5F66"/>
      </a:dk2>
      <a:lt2>
        <a:srgbClr val="EEF4F4"/>
      </a:lt2>
      <a:accent1>
        <a:srgbClr val="137C80"/>
      </a:accent1>
      <a:accent2>
        <a:srgbClr val="C8692E"/>
      </a:accent2>
      <a:accent3>
        <a:srgbClr val="5FA8A6"/>
      </a:accent3>
      <a:accent4>
        <a:srgbClr val="9E3D5E"/>
      </a:accent4>
      <a:accent5>
        <a:srgbClr val="2F4F5A"/>
      </a:accent5>
      <a:accent6>
        <a:srgbClr val="F3E3D6"/>
      </a:accent6>
      <a:hlink>
        <a:srgbClr val="137C80"/>
      </a:hlink>
      <a:folHlink>
        <a:srgbClr val="4A5F66"/>
      </a:folHlink>
    </a:clrScheme>
    <a:fontScheme name="CMSIS K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CMSIS Knowledge Base: Team Kickoff</dc:title>
  <dc:subject>PptxGenJS Presentation</dc:subject>
  <dc:creator>Matthias Hertel</dc:creator>
  <cp:lastModifiedBy>Matthias Hertel</cp:lastModifiedBy>
  <cp:revision>1</cp:revision>
  <dcterms:created xsi:type="dcterms:W3CDTF">2026-10-04T18:53:12Z</dcterms:created>
  <dcterms:modified xsi:type="dcterms:W3CDTF">2026-10-04T18:53:12Z</dcterms:modified>
</cp:coreProperties>
</file>